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66" r:id="rId2"/>
    <p:sldId id="269" r:id="rId3"/>
    <p:sldId id="258" r:id="rId4"/>
    <p:sldId id="261" r:id="rId5"/>
    <p:sldId id="260" r:id="rId6"/>
    <p:sldId id="259" r:id="rId7"/>
    <p:sldId id="262" r:id="rId8"/>
    <p:sldId id="263" r:id="rId9"/>
    <p:sldId id="264" r:id="rId10"/>
    <p:sldId id="268" r:id="rId11"/>
  </p:sldIdLst>
  <p:sldSz cx="18288000" cy="10287000"/>
  <p:notesSz cx="6858000" cy="9144000"/>
  <p:embeddedFontLst>
    <p:embeddedFont>
      <p:font typeface="Regular Brush" panose="020B0604020202020204" charset="0"/>
      <p:regular r:id="rId13"/>
    </p:embeddedFont>
    <p:embeddedFont>
      <p:font typeface="Garinim Shehorim" panose="020B0604020202020204" charset="-79"/>
      <p:regular r:id="rId14"/>
    </p:embeddedFont>
    <p:embeddedFont>
      <p:font typeface="TT Firs Neue Bold" panose="020B0604020202020204" charset="0"/>
      <p:regular r:id="rId15"/>
    </p:embeddedFont>
    <p:embeddedFont>
      <p:font typeface="MV Boli" panose="02000500030200090000" pitchFamily="2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entury Gothic" panose="020B0502020202020204" pitchFamily="34" charset="0"/>
      <p:regular r:id="rId21"/>
      <p:bold r:id="rId22"/>
      <p:italic r:id="rId23"/>
      <p:boldItalic r:id="rId24"/>
    </p:embeddedFont>
    <p:embeddedFont>
      <p:font typeface="TT Firs Neue" panose="020B0604020202020204" charset="0"/>
      <p:regular r:id="rId25"/>
    </p:embeddedFont>
    <p:embeddedFont>
      <p:font typeface="Georgia" panose="02040502050405020303" pitchFamily="18" charset="0"/>
      <p:regular r:id="rId26"/>
      <p:bold r:id="rId27"/>
      <p:italic r:id="rId28"/>
      <p:boldItalic r:id="rId29"/>
    </p:embeddedFont>
    <p:embeddedFont>
      <p:font typeface="Heading Now 71-78" panose="020B0604020202020204" charset="0"/>
      <p:regular r:id="rId30"/>
    </p:embeddedFont>
    <p:embeddedFont>
      <p:font typeface="Cambria" panose="02040503050406030204" pitchFamily="18" charset="0"/>
      <p:regular r:id="rId31"/>
      <p:bold r:id="rId32"/>
      <p:italic r:id="rId33"/>
      <p:boldItalic r:id="rId34"/>
    </p:embeddedFont>
    <p:embeddedFont>
      <p:font typeface="Segoe UI" panose="020B0502040204020203" pitchFamily="34" charset="0"/>
      <p:regular r:id="rId35"/>
      <p:bold r:id="rId36"/>
      <p:italic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8" d="100"/>
          <a:sy n="78" d="100"/>
        </p:scale>
        <p:origin x="35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9" Type="http://schemas.openxmlformats.org/officeDocument/2006/relationships/presProps" Target="presProps.xml"/><Relationship Id="rId21" Type="http://schemas.openxmlformats.org/officeDocument/2006/relationships/font" Target="fonts/font9.fntdata"/><Relationship Id="rId34" Type="http://schemas.openxmlformats.org/officeDocument/2006/relationships/font" Target="fonts/font2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openxmlformats.org/officeDocument/2006/relationships/font" Target="fonts/font2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font" Target="fonts/font24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font" Target="fonts/font2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font" Target="fonts/font21.fntdata"/><Relationship Id="rId38" Type="http://schemas.openxmlformats.org/officeDocument/2006/relationships/font" Target="fonts/font2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B12922-5058-40FC-BB11-421CC7597F44}" type="datetimeFigureOut">
              <a:rPr lang="fr-FR" smtClean="0"/>
              <a:t>20/12/2025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044CC0-6A6E-4F8F-81D9-37C31DC89E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2581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Bonjour honorable jurys , j’espère que vous allez bien.</a:t>
            </a:r>
          </a:p>
          <a:p>
            <a:endParaRPr lang="fr-FR" dirty="0"/>
          </a:p>
          <a:p>
            <a:r>
              <a:rPr lang="fr-FR" dirty="0"/>
              <a:t>permute moi de me présente, je m'appelle Mohamed EL JAZOULY  , élève ingénieur  en énergie électrique et industrie numérique  a l’ </a:t>
            </a:r>
            <a:r>
              <a:rPr lang="fr-FR" dirty="0" err="1"/>
              <a:t>ensam</a:t>
            </a:r>
            <a:r>
              <a:rPr lang="fr-FR" dirty="0"/>
              <a:t> de rabat  . J’ai</a:t>
            </a:r>
            <a:r>
              <a:rPr lang="fr-FR" baseline="0" dirty="0"/>
              <a:t> </a:t>
            </a:r>
            <a:r>
              <a:rPr lang="fr-FR" dirty="0"/>
              <a:t> </a:t>
            </a:r>
            <a:r>
              <a:rPr lang="fr-FR" dirty="0" err="1"/>
              <a:t>honeur</a:t>
            </a:r>
            <a:r>
              <a:rPr lang="fr-FR" dirty="0"/>
              <a:t> de vous présenter aujourd'hui le fruit de mon stage PFA  effectué au sein de la société VALTRONIC TECHNOLOGIES , </a:t>
            </a:r>
          </a:p>
          <a:p>
            <a:endParaRPr lang="fr-FR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je tiens à exprimer ma plus sincère gratitude envers les membres du jurys monsieur</a:t>
            </a:r>
            <a:r>
              <a:rPr lang="fr-FR" baseline="0" dirty="0"/>
              <a:t> </a:t>
            </a:r>
            <a:r>
              <a:rPr lang="fr-FR" b="1" baseline="0" dirty="0"/>
              <a:t>MR</a:t>
            </a:r>
            <a:r>
              <a:rPr lang="fr-FR" baseline="0" dirty="0"/>
              <a:t> .</a:t>
            </a:r>
            <a:r>
              <a:rPr lang="fr-FR" sz="1200" b="1" dirty="0">
                <a:latin typeface="MV Boli" panose="0200050003020009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 BENAATA et MADAME,ZAZI</a:t>
            </a:r>
          </a:p>
          <a:p>
            <a:r>
              <a:rPr lang="fr-FR" dirty="0"/>
              <a:t> pour leur temps, et</a:t>
            </a:r>
            <a:r>
              <a:rPr lang="fr-FR" baseline="0" dirty="0"/>
              <a:t> </a:t>
            </a:r>
            <a:r>
              <a:rPr lang="fr-FR" dirty="0"/>
              <a:t>leur évaluation de ma présentation. </a:t>
            </a:r>
          </a:p>
          <a:p>
            <a:endParaRPr lang="fr-FR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Je tiens également à Remercier mon encadrant</a:t>
            </a:r>
            <a:r>
              <a:rPr lang="fr-FR" baseline="0" dirty="0"/>
              <a:t> </a:t>
            </a:r>
            <a:r>
              <a:rPr lang="fr-FR" dirty="0"/>
              <a:t>de stage </a:t>
            </a:r>
            <a:r>
              <a:rPr lang="fr-FR" sz="1100" b="1" dirty="0">
                <a:latin typeface="MV Boli" panose="0200050003020009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Mr.</a:t>
            </a:r>
            <a:r>
              <a:rPr lang="fr-FR" sz="12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fr-FR" b="1" dirty="0">
                <a:latin typeface="MV Boli" panose="0200050003020009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AZERGUI Lahoucine </a:t>
            </a:r>
            <a:r>
              <a:rPr lang="fr-FR" dirty="0"/>
              <a:t>, pour la qualité exceptionnelle de son  encadrement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BD288F-1A69-4A1E-95C9-73BD98A30B0A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390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fr-F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0494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Merci de votre attention, et je suis à votre disposition pour répondre à vos questions.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A37ED8-F6F0-4F62-8DB6-6239E9783642}" type="slidenum">
              <a:rPr lang="fr-MA" smtClean="0"/>
              <a:pPr/>
              <a:t>10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159037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087883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11.sv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71014" y="944381"/>
            <a:ext cx="18473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700" dirty="0"/>
          </a:p>
        </p:txBody>
      </p:sp>
      <p:grpSp>
        <p:nvGrpSpPr>
          <p:cNvPr id="37" name="Group 23">
            <a:extLst>
              <a:ext uri="{FF2B5EF4-FFF2-40B4-BE49-F238E27FC236}">
                <a16:creationId xmlns:a16="http://schemas.microsoft.com/office/drawing/2014/main" id="{D2E47DC6-1779-4758-86AE-2778A42D4860}"/>
              </a:ext>
            </a:extLst>
          </p:cNvPr>
          <p:cNvGrpSpPr>
            <a:grpSpLocks/>
          </p:cNvGrpSpPr>
          <p:nvPr/>
        </p:nvGrpSpPr>
        <p:grpSpPr bwMode="auto">
          <a:xfrm>
            <a:off x="3865782" y="4309175"/>
            <a:ext cx="1745904" cy="1598094"/>
            <a:chOff x="714787" y="1481"/>
            <a:chExt cx="2755900" cy="648"/>
          </a:xfrm>
        </p:grpSpPr>
        <p:sp>
          <p:nvSpPr>
            <p:cNvPr id="38" name="Line 24">
              <a:extLst>
                <a:ext uri="{FF2B5EF4-FFF2-40B4-BE49-F238E27FC236}">
                  <a16:creationId xmlns:a16="http://schemas.microsoft.com/office/drawing/2014/main" id="{B6E43221-0F89-44C7-BEA1-6FEC841448F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714787" y="1487"/>
              <a:ext cx="2755900" cy="0"/>
            </a:xfrm>
            <a:prstGeom prst="line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  <a:prstDash val="sysDash"/>
              <a:round/>
              <a:headEnd type="none" w="sm" len="sm"/>
              <a:tailEnd type="none" w="sm" len="sm"/>
            </a:ln>
            <a:effectLst>
              <a:outerShdw dist="107763" dir="18900000" algn="ctr" rotWithShape="0">
                <a:schemeClr val="accent1">
                  <a:lumMod val="40000"/>
                  <a:lumOff val="60000"/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sz="2700" dirty="0"/>
            </a:p>
          </p:txBody>
        </p:sp>
        <p:sp>
          <p:nvSpPr>
            <p:cNvPr id="39" name="Line 25">
              <a:extLst>
                <a:ext uri="{FF2B5EF4-FFF2-40B4-BE49-F238E27FC236}">
                  <a16:creationId xmlns:a16="http://schemas.microsoft.com/office/drawing/2014/main" id="{9708CF6F-BF9A-4E80-A86C-4933704F663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714463" y="1805"/>
              <a:ext cx="648" cy="0"/>
            </a:xfrm>
            <a:prstGeom prst="line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  <a:prstDash val="sysDash"/>
              <a:round/>
              <a:headEnd type="none" w="sm" len="sm"/>
              <a:tailEnd type="none" w="sm" len="sm"/>
            </a:ln>
            <a:effectLst>
              <a:outerShdw dist="107763" dir="18900000" algn="ctr" rotWithShape="0">
                <a:schemeClr val="accent1">
                  <a:lumMod val="60000"/>
                  <a:lumOff val="40000"/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sz="2700" dirty="0"/>
            </a:p>
          </p:txBody>
        </p:sp>
      </p:grpSp>
      <p:grpSp>
        <p:nvGrpSpPr>
          <p:cNvPr id="40" name="Group 23">
            <a:extLst>
              <a:ext uri="{FF2B5EF4-FFF2-40B4-BE49-F238E27FC236}">
                <a16:creationId xmlns:a16="http://schemas.microsoft.com/office/drawing/2014/main" id="{A7336FE1-720F-4F7E-819C-F9F6921487AE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12632808" y="4340649"/>
            <a:ext cx="1745904" cy="1598094"/>
            <a:chOff x="714787" y="1481"/>
            <a:chExt cx="2755900" cy="648"/>
          </a:xfrm>
        </p:grpSpPr>
        <p:sp>
          <p:nvSpPr>
            <p:cNvPr id="41" name="Line 24">
              <a:extLst>
                <a:ext uri="{FF2B5EF4-FFF2-40B4-BE49-F238E27FC236}">
                  <a16:creationId xmlns:a16="http://schemas.microsoft.com/office/drawing/2014/main" id="{D322BDCB-66F6-490F-A9D4-D1EB5CB92E4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714787" y="1487"/>
              <a:ext cx="2755900" cy="0"/>
            </a:xfrm>
            <a:prstGeom prst="line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  <a:prstDash val="sysDash"/>
              <a:round/>
              <a:headEnd type="none" w="sm" len="sm"/>
              <a:tailEnd type="none" w="sm" len="sm"/>
            </a:ln>
            <a:effectLst>
              <a:outerShdw dist="107763" dir="18900000" algn="ctr" rotWithShape="0">
                <a:schemeClr val="accent1">
                  <a:lumMod val="60000"/>
                  <a:lumOff val="40000"/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sz="2700" dirty="0"/>
            </a:p>
          </p:txBody>
        </p:sp>
        <p:sp>
          <p:nvSpPr>
            <p:cNvPr id="42" name="Line 25">
              <a:extLst>
                <a:ext uri="{FF2B5EF4-FFF2-40B4-BE49-F238E27FC236}">
                  <a16:creationId xmlns:a16="http://schemas.microsoft.com/office/drawing/2014/main" id="{CE4B910F-0CFA-4C3A-90E6-E6972D28957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714463" y="1805"/>
              <a:ext cx="648" cy="0"/>
            </a:xfrm>
            <a:prstGeom prst="line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  <a:prstDash val="sysDash"/>
              <a:round/>
              <a:headEnd type="none" w="sm" len="sm"/>
              <a:tailEnd type="none" w="sm" len="sm"/>
            </a:ln>
            <a:effectLst>
              <a:outerShdw dist="107763" dir="18900000" algn="ctr" rotWithShape="0">
                <a:schemeClr val="accent1">
                  <a:lumMod val="60000"/>
                  <a:lumOff val="40000"/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sz="2700" dirty="0"/>
            </a:p>
          </p:txBody>
        </p:sp>
      </p:grpSp>
      <p:sp>
        <p:nvSpPr>
          <p:cNvPr id="21" name="ZoneTexte 38">
            <a:extLst>
              <a:ext uri="{FF2B5EF4-FFF2-40B4-BE49-F238E27FC236}">
                <a16:creationId xmlns:a16="http://schemas.microsoft.com/office/drawing/2014/main" id="{04DDBA3C-1108-459B-9065-20812084815F}"/>
              </a:ext>
            </a:extLst>
          </p:cNvPr>
          <p:cNvSpPr txBox="1"/>
          <p:nvPr/>
        </p:nvSpPr>
        <p:spPr>
          <a:xfrm>
            <a:off x="5486400" y="251883"/>
            <a:ext cx="76310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ROYAUME DU MAROC</a:t>
            </a:r>
          </a:p>
          <a:p>
            <a:pPr algn="ctr"/>
            <a:r>
              <a:rPr lang="fr-FR" sz="2400" b="1" dirty="0"/>
              <a:t>Université Hassan </a:t>
            </a:r>
            <a:r>
              <a:rPr lang="fr-FR" sz="2400" b="1" dirty="0" smtClean="0"/>
              <a:t>Premier</a:t>
            </a:r>
          </a:p>
          <a:p>
            <a:r>
              <a:rPr lang="fr-FR" sz="2400" b="1" dirty="0"/>
              <a:t>Faculté des Sciences et Techniques de Settat (FST Settat)</a:t>
            </a:r>
            <a:endParaRPr lang="fr-FR" sz="2400" dirty="0"/>
          </a:p>
        </p:txBody>
      </p:sp>
      <p:sp>
        <p:nvSpPr>
          <p:cNvPr id="24" name="TextBox 34">
            <a:extLst>
              <a:ext uri="{FF2B5EF4-FFF2-40B4-BE49-F238E27FC236}">
                <a16:creationId xmlns:a16="http://schemas.microsoft.com/office/drawing/2014/main" id="{B575F367-CB1D-44D5-8F49-F3713B0E7516}"/>
              </a:ext>
            </a:extLst>
          </p:cNvPr>
          <p:cNvSpPr txBox="1"/>
          <p:nvPr/>
        </p:nvSpPr>
        <p:spPr>
          <a:xfrm>
            <a:off x="3650035" y="2234506"/>
            <a:ext cx="1017863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fr-FR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épartement : </a:t>
            </a:r>
            <a: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fr-FR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énie </a:t>
            </a:r>
            <a: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fr-FR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lectrique</a:t>
            </a:r>
            <a:endParaRPr lang="fr-FR" sz="27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27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pécialité : </a:t>
            </a:r>
            <a:r>
              <a:rPr lang="fr-FR" sz="2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fr-FR" sz="27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énie  </a:t>
            </a:r>
            <a: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fr-FR" sz="27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lectrique et </a:t>
            </a:r>
            <a: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fr-FR" sz="27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ndustrie </a:t>
            </a:r>
            <a: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fr-FR" sz="27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umérique 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2AE3C875-82D6-48A4-B48E-68346040A30B}"/>
              </a:ext>
            </a:extLst>
          </p:cNvPr>
          <p:cNvSpPr txBox="1"/>
          <p:nvPr/>
        </p:nvSpPr>
        <p:spPr>
          <a:xfrm>
            <a:off x="5792604" y="9771143"/>
            <a:ext cx="6266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i="1" dirty="0">
                <a:latin typeface="Segoe UI" panose="020B0502040204020203" pitchFamily="34" charset="0"/>
                <a:cs typeface="Segoe UI" panose="020B0502040204020203" pitchFamily="34" charset="0"/>
              </a:rPr>
              <a:t>Année Universitaire : </a:t>
            </a:r>
            <a:r>
              <a:rPr lang="fr-FR" b="1" i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2025-2026</a:t>
            </a:r>
            <a:endParaRPr lang="fr-FR" b="1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148EA5C5-4771-0B32-1A28-6EA7016C1BBB}"/>
              </a:ext>
            </a:extLst>
          </p:cNvPr>
          <p:cNvGrpSpPr/>
          <p:nvPr/>
        </p:nvGrpSpPr>
        <p:grpSpPr>
          <a:xfrm>
            <a:off x="169703" y="7137219"/>
            <a:ext cx="5002431" cy="2616101"/>
            <a:chOff x="113135" y="4384069"/>
            <a:chExt cx="3334954" cy="1744067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672FF2C-3BFA-4059-80F2-F5A64E2EB501}"/>
                </a:ext>
              </a:extLst>
            </p:cNvPr>
            <p:cNvSpPr/>
            <p:nvPr/>
          </p:nvSpPr>
          <p:spPr>
            <a:xfrm>
              <a:off x="113135" y="4384069"/>
              <a:ext cx="3334954" cy="174406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  <a:spcAft>
                  <a:spcPts val="1200"/>
                </a:spcAft>
              </a:pPr>
              <a:r>
                <a:rPr lang="fr-FR" sz="2400" b="1" dirty="0">
                  <a:latin typeface="MV Boli" panose="02000500030200090000" pitchFamily="2" charset="0"/>
                  <a:ea typeface="Calibri" panose="020F0502020204030204" pitchFamily="34" charset="0"/>
                  <a:cs typeface="Arial" panose="020B0604020202020204" pitchFamily="34" charset="0"/>
                </a:rPr>
                <a:t>Soutenu par :</a:t>
              </a:r>
            </a:p>
            <a:p>
              <a:pPr>
                <a:lnSpc>
                  <a:spcPct val="200000"/>
                </a:lnSpc>
                <a:spcAft>
                  <a:spcPts val="1200"/>
                </a:spcAft>
              </a:pPr>
              <a:r>
                <a:rPr lang="fr-FR" sz="2400" b="1" dirty="0">
                  <a:latin typeface="MV Boli" panose="02000500030200090000" pitchFamily="2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US" b="1" dirty="0" err="1">
                  <a:latin typeface="MV Boli" panose="02000500030200090000" pitchFamily="2" charset="0"/>
                  <a:ea typeface="Calibri" panose="020F0502020204030204" pitchFamily="34" charset="0"/>
                  <a:cs typeface="Arial" panose="020B0604020202020204" pitchFamily="34" charset="0"/>
                  <a:sym typeface="Garinim Shehorim"/>
                </a:rPr>
                <a:t>Présenté</a:t>
              </a:r>
              <a:r>
                <a:rPr lang="en-US" b="1" dirty="0">
                  <a:latin typeface="MV Boli" panose="02000500030200090000" pitchFamily="2" charset="0"/>
                  <a:ea typeface="Calibri" panose="020F0502020204030204" pitchFamily="34" charset="0"/>
                  <a:cs typeface="Arial" panose="020B0604020202020204" pitchFamily="34" charset="0"/>
                  <a:sym typeface="Garinim Shehorim"/>
                </a:rPr>
                <a:t> par : </a:t>
              </a:r>
              <a:r>
                <a:rPr lang="fr-FR" b="1" dirty="0" smtClean="0">
                  <a:latin typeface="MV Boli" panose="02000500030200090000" pitchFamily="2" charset="0"/>
                  <a:ea typeface="Calibri" panose="020F0502020204030204" pitchFamily="34" charset="0"/>
                  <a:cs typeface="Arial" panose="020B0604020202020204" pitchFamily="34" charset="0"/>
                </a:rPr>
                <a:t>Mr.</a:t>
              </a:r>
              <a:r>
                <a:rPr lang="en-US" b="1" dirty="0" smtClean="0">
                  <a:latin typeface="MV Boli" panose="02000500030200090000" pitchFamily="2" charset="0"/>
                  <a:ea typeface="Calibri" panose="020F0502020204030204" pitchFamily="34" charset="0"/>
                  <a:cs typeface="Arial" panose="020B0604020202020204" pitchFamily="34" charset="0"/>
                  <a:sym typeface="Garinim Shehorim"/>
                </a:rPr>
                <a:t>EL </a:t>
              </a:r>
              <a:r>
                <a:rPr lang="en-US" b="1" dirty="0">
                  <a:latin typeface="MV Boli" panose="02000500030200090000" pitchFamily="2" charset="0"/>
                  <a:ea typeface="Calibri" panose="020F0502020204030204" pitchFamily="34" charset="0"/>
                  <a:cs typeface="Arial" panose="020B0604020202020204" pitchFamily="34" charset="0"/>
                  <a:sym typeface="Garinim Shehorim"/>
                </a:rPr>
                <a:t>JAZOULY Mohamed</a:t>
              </a:r>
            </a:p>
            <a:p>
              <a:pPr>
                <a:lnSpc>
                  <a:spcPct val="200000"/>
                </a:lnSpc>
                <a:spcAft>
                  <a:spcPts val="1200"/>
                </a:spcAft>
              </a:pPr>
              <a:endParaRPr lang="fr-FR" sz="2400" b="1" dirty="0">
                <a:latin typeface="MV Boli" panose="02000500030200090000" pitchFamily="2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7" name="Connecteur droit 32">
              <a:extLst>
                <a:ext uri="{FF2B5EF4-FFF2-40B4-BE49-F238E27FC236}">
                  <a16:creationId xmlns:a16="http://schemas.microsoft.com/office/drawing/2014/main" id="{BCED86A9-D76A-48CF-B58A-8953109EBEEE}"/>
                </a:ext>
              </a:extLst>
            </p:cNvPr>
            <p:cNvCxnSpPr/>
            <p:nvPr/>
          </p:nvCxnSpPr>
          <p:spPr>
            <a:xfrm>
              <a:off x="224492" y="4886302"/>
              <a:ext cx="252000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rganigramme : Connecteur 33">
              <a:extLst>
                <a:ext uri="{FF2B5EF4-FFF2-40B4-BE49-F238E27FC236}">
                  <a16:creationId xmlns:a16="http://schemas.microsoft.com/office/drawing/2014/main" id="{61294DFB-088F-4AA2-9E11-ACB3FC9046EE}"/>
                </a:ext>
              </a:extLst>
            </p:cNvPr>
            <p:cNvSpPr/>
            <p:nvPr/>
          </p:nvSpPr>
          <p:spPr>
            <a:xfrm>
              <a:off x="1240917" y="4817776"/>
              <a:ext cx="140400" cy="140678"/>
            </a:xfrm>
            <a:prstGeom prst="flowChartConnector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sz="3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4B1F21F4-F2A6-78DE-04B9-D8B359D7E7A8}"/>
              </a:ext>
            </a:extLst>
          </p:cNvPr>
          <p:cNvGrpSpPr/>
          <p:nvPr/>
        </p:nvGrpSpPr>
        <p:grpSpPr>
          <a:xfrm>
            <a:off x="12864689" y="7371784"/>
            <a:ext cx="5481935" cy="2019087"/>
            <a:chOff x="8576459" y="4540446"/>
            <a:chExt cx="3654623" cy="1346058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9B6A2B6-DE53-4701-8361-648B9CBA0080}"/>
                </a:ext>
              </a:extLst>
            </p:cNvPr>
            <p:cNvSpPr/>
            <p:nvPr/>
          </p:nvSpPr>
          <p:spPr>
            <a:xfrm>
              <a:off x="8576459" y="4540446"/>
              <a:ext cx="3654623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fr-FR" sz="2700" b="1" dirty="0">
                  <a:latin typeface="MV Boli" panose="02000500030200090000" pitchFamily="2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fr-FR" sz="2400" b="1" dirty="0">
                  <a:latin typeface="MV Boli" panose="02000500030200090000" pitchFamily="2" charset="0"/>
                  <a:ea typeface="Calibri" panose="020F0502020204030204" pitchFamily="34" charset="0"/>
                  <a:cs typeface="Arial" panose="020B0604020202020204" pitchFamily="34" charset="0"/>
                </a:rPr>
                <a:t>Encadré par :</a:t>
              </a:r>
            </a:p>
          </p:txBody>
        </p: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CE00DA26-D7D7-774D-D3CB-F04E62367E99}"/>
                </a:ext>
              </a:extLst>
            </p:cNvPr>
            <p:cNvGrpSpPr/>
            <p:nvPr/>
          </p:nvGrpSpPr>
          <p:grpSpPr>
            <a:xfrm>
              <a:off x="8576459" y="4819705"/>
              <a:ext cx="3334954" cy="1066799"/>
              <a:chOff x="8576459" y="4819705"/>
              <a:chExt cx="3334954" cy="1066799"/>
            </a:xfrm>
          </p:grpSpPr>
          <p:cxnSp>
            <p:nvCxnSpPr>
              <p:cNvPr id="33" name="Connecteur droit 32">
                <a:extLst>
                  <a:ext uri="{FF2B5EF4-FFF2-40B4-BE49-F238E27FC236}">
                    <a16:creationId xmlns:a16="http://schemas.microsoft.com/office/drawing/2014/main" id="{BCED86A9-D76A-48CF-B58A-8953109EBEEE}"/>
                  </a:ext>
                </a:extLst>
              </p:cNvPr>
              <p:cNvCxnSpPr/>
              <p:nvPr/>
            </p:nvCxnSpPr>
            <p:spPr>
              <a:xfrm>
                <a:off x="8627711" y="4888231"/>
                <a:ext cx="2520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Organigramme : Connecteur 35">
                <a:extLst>
                  <a:ext uri="{FF2B5EF4-FFF2-40B4-BE49-F238E27FC236}">
                    <a16:creationId xmlns:a16="http://schemas.microsoft.com/office/drawing/2014/main" id="{61294DFB-088F-4AA2-9E11-ACB3FC9046EE}"/>
                  </a:ext>
                </a:extLst>
              </p:cNvPr>
              <p:cNvSpPr/>
              <p:nvPr/>
            </p:nvSpPr>
            <p:spPr>
              <a:xfrm>
                <a:off x="9383987" y="4819705"/>
                <a:ext cx="140400" cy="140678"/>
              </a:xfrm>
              <a:prstGeom prst="flowChartConnector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fr-FR" sz="36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" name="Rectangle 3"/>
              <p:cNvSpPr/>
              <p:nvPr/>
            </p:nvSpPr>
            <p:spPr>
              <a:xfrm>
                <a:off x="8576459" y="4952915"/>
                <a:ext cx="3334954" cy="9335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ts val="3409"/>
                  </a:lnSpc>
                </a:pPr>
                <a:r>
                  <a:rPr lang="en-US" sz="2700" b="1" dirty="0" err="1" smtClean="0">
                    <a:latin typeface="MV Boli" panose="02000500030200090000" pitchFamily="2" charset="0"/>
                    <a:ea typeface="Calibri" panose="020F0502020204030204" pitchFamily="34" charset="0"/>
                    <a:cs typeface="Arial" panose="020B0604020202020204" pitchFamily="34" charset="0"/>
                    <a:sym typeface="Garinim Shehorim"/>
                  </a:rPr>
                  <a:t>Encadrant</a:t>
                </a:r>
                <a:r>
                  <a:rPr lang="en-US" sz="2700" b="1" dirty="0" smtClean="0">
                    <a:latin typeface="MV Boli" panose="02000500030200090000" pitchFamily="2" charset="0"/>
                    <a:ea typeface="Calibri" panose="020F0502020204030204" pitchFamily="34" charset="0"/>
                    <a:cs typeface="Arial" panose="020B0604020202020204" pitchFamily="34" charset="0"/>
                    <a:sym typeface="Garinim Shehorim"/>
                  </a:rPr>
                  <a:t> </a:t>
                </a:r>
                <a:r>
                  <a:rPr lang="en-US" sz="2700" b="1" dirty="0">
                    <a:latin typeface="MV Boli" panose="02000500030200090000" pitchFamily="2" charset="0"/>
                    <a:ea typeface="Calibri" panose="020F0502020204030204" pitchFamily="34" charset="0"/>
                    <a:cs typeface="Arial" panose="020B0604020202020204" pitchFamily="34" charset="0"/>
                    <a:sym typeface="Garinim Shehorim"/>
                  </a:rPr>
                  <a:t>: Pr. Hassan </a:t>
                </a:r>
                <a:r>
                  <a:rPr lang="en-US" sz="2700" b="1" dirty="0" err="1">
                    <a:latin typeface="MV Boli" panose="02000500030200090000" pitchFamily="2" charset="0"/>
                    <a:ea typeface="Calibri" panose="020F0502020204030204" pitchFamily="34" charset="0"/>
                    <a:cs typeface="Arial" panose="020B0604020202020204" pitchFamily="34" charset="0"/>
                    <a:sym typeface="Garinim Shehorim"/>
                  </a:rPr>
                  <a:t>Gziri</a:t>
                </a:r>
                <a:r>
                  <a:rPr lang="en-US" sz="2700" b="1" dirty="0">
                    <a:latin typeface="MV Boli" panose="02000500030200090000" pitchFamily="2" charset="0"/>
                    <a:ea typeface="Calibri" panose="020F0502020204030204" pitchFamily="34" charset="0"/>
                    <a:cs typeface="Arial" panose="020B0604020202020204" pitchFamily="34" charset="0"/>
                    <a:sym typeface="Garinim Shehorim"/>
                  </a:rPr>
                  <a:t> </a:t>
                </a:r>
              </a:p>
              <a:p>
                <a:pPr>
                  <a:lnSpc>
                    <a:spcPts val="3409"/>
                  </a:lnSpc>
                </a:pPr>
                <a:r>
                  <a:rPr lang="en-US" sz="2700" b="1" dirty="0">
                    <a:latin typeface="MV Boli" panose="02000500030200090000" pitchFamily="2" charset="0"/>
                    <a:ea typeface="Calibri" panose="020F0502020204030204" pitchFamily="34" charset="0"/>
                    <a:cs typeface="Arial" panose="020B0604020202020204" pitchFamily="34" charset="0"/>
                    <a:sym typeface="Garinim Shehorim"/>
                  </a:rPr>
                  <a:t>Co-</a:t>
                </a:r>
                <a:r>
                  <a:rPr lang="en-US" sz="2700" b="1" dirty="0" err="1">
                    <a:latin typeface="MV Boli" panose="02000500030200090000" pitchFamily="2" charset="0"/>
                    <a:ea typeface="Calibri" panose="020F0502020204030204" pitchFamily="34" charset="0"/>
                    <a:cs typeface="Arial" panose="020B0604020202020204" pitchFamily="34" charset="0"/>
                    <a:sym typeface="Garinim Shehorim"/>
                  </a:rPr>
                  <a:t>encadrante</a:t>
                </a:r>
                <a:r>
                  <a:rPr lang="en-US" sz="2700" b="1" dirty="0">
                    <a:latin typeface="MV Boli" panose="02000500030200090000" pitchFamily="2" charset="0"/>
                    <a:ea typeface="Calibri" panose="020F0502020204030204" pitchFamily="34" charset="0"/>
                    <a:cs typeface="Arial" panose="020B0604020202020204" pitchFamily="34" charset="0"/>
                    <a:sym typeface="Garinim Shehorim"/>
                  </a:rPr>
                  <a:t> : Pr. </a:t>
                </a:r>
                <a:r>
                  <a:rPr lang="en-US" sz="2700" b="1" dirty="0" err="1">
                    <a:latin typeface="MV Boli" panose="02000500030200090000" pitchFamily="2" charset="0"/>
                    <a:ea typeface="Calibri" panose="020F0502020204030204" pitchFamily="34" charset="0"/>
                    <a:cs typeface="Arial" panose="020B0604020202020204" pitchFamily="34" charset="0"/>
                    <a:sym typeface="Garinim Shehorim"/>
                  </a:rPr>
                  <a:t>Wafaa</a:t>
                </a:r>
                <a:r>
                  <a:rPr lang="en-US" sz="2700" b="1" dirty="0">
                    <a:latin typeface="MV Boli" panose="02000500030200090000" pitchFamily="2" charset="0"/>
                    <a:ea typeface="Calibri" panose="020F0502020204030204" pitchFamily="34" charset="0"/>
                    <a:cs typeface="Arial" panose="020B0604020202020204" pitchFamily="34" charset="0"/>
                    <a:sym typeface="Garinim Shehorim"/>
                  </a:rPr>
                  <a:t> </a:t>
                </a:r>
                <a:r>
                  <a:rPr lang="en-US" sz="2700" b="1" dirty="0" err="1">
                    <a:latin typeface="MV Boli" panose="02000500030200090000" pitchFamily="2" charset="0"/>
                    <a:ea typeface="Calibri" panose="020F0502020204030204" pitchFamily="34" charset="0"/>
                    <a:cs typeface="Arial" panose="020B0604020202020204" pitchFamily="34" charset="0"/>
                    <a:sym typeface="Garinim Shehorim"/>
                  </a:rPr>
                  <a:t>Dachry</a:t>
                </a:r>
                <a:endParaRPr lang="en-US" sz="2700" b="1" dirty="0">
                  <a:latin typeface="MV Boli" panose="02000500030200090000" pitchFamily="2" charset="0"/>
                  <a:ea typeface="Calibri" panose="020F0502020204030204" pitchFamily="34" charset="0"/>
                  <a:cs typeface="Arial" panose="020B0604020202020204" pitchFamily="34" charset="0"/>
                  <a:sym typeface="Garinim Shehorim"/>
                </a:endParaRPr>
              </a:p>
            </p:txBody>
          </p:sp>
        </p:grpSp>
      </p:grpSp>
      <p:sp>
        <p:nvSpPr>
          <p:cNvPr id="6" name="ZoneTexte 5">
            <a:extLst>
              <a:ext uri="{FF2B5EF4-FFF2-40B4-BE49-F238E27FC236}">
                <a16:creationId xmlns:a16="http://schemas.microsoft.com/office/drawing/2014/main" id="{994A8F3A-1087-C8BB-A6DA-3BF34D834410}"/>
              </a:ext>
            </a:extLst>
          </p:cNvPr>
          <p:cNvSpPr txBox="1"/>
          <p:nvPr/>
        </p:nvSpPr>
        <p:spPr>
          <a:xfrm>
            <a:off x="7634137" y="3431210"/>
            <a:ext cx="297699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700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Sous</a:t>
            </a:r>
            <a:r>
              <a:rPr lang="fr-FR" sz="2700" b="1" spc="-45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2700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</a:t>
            </a:r>
            <a:r>
              <a:rPr lang="fr-FR" sz="2700" b="1" spc="-8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2700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thème</a:t>
            </a:r>
            <a:r>
              <a:rPr lang="fr-FR" sz="2700" b="1" spc="-45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2700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fr-FR" sz="27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7EE1D4B-23F7-A4D0-B773-8C2A5C08A5A4}"/>
              </a:ext>
            </a:extLst>
          </p:cNvPr>
          <p:cNvSpPr txBox="1"/>
          <p:nvPr/>
        </p:nvSpPr>
        <p:spPr>
          <a:xfrm>
            <a:off x="3642014" y="4418053"/>
            <a:ext cx="11003973" cy="1430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3200" b="1" dirty="0" err="1">
                <a:solidFill>
                  <a:srgbClr val="282828"/>
                </a:solidFill>
                <a:latin typeface="Times New Roman" panose="02020603050405020304" pitchFamily="18" charset="0"/>
                <a:ea typeface="Regular Brush"/>
                <a:cs typeface="Times New Roman" panose="02020603050405020304" pitchFamily="18" charset="0"/>
                <a:sym typeface="Regular Brush"/>
              </a:rPr>
              <a:t>Automatisation</a:t>
            </a:r>
            <a:r>
              <a:rPr lang="en-US" sz="3200" b="1" dirty="0">
                <a:solidFill>
                  <a:srgbClr val="282828"/>
                </a:solidFill>
                <a:latin typeface="Times New Roman" panose="02020603050405020304" pitchFamily="18" charset="0"/>
                <a:ea typeface="Regular Brush"/>
                <a:cs typeface="Times New Roman" panose="02020603050405020304" pitchFamily="18" charset="0"/>
                <a:sym typeface="Regular Brush"/>
              </a:rPr>
              <a:t> de la </a:t>
            </a:r>
            <a:r>
              <a:rPr lang="en-US" sz="3200" b="1" dirty="0" err="1">
                <a:solidFill>
                  <a:srgbClr val="282828"/>
                </a:solidFill>
                <a:latin typeface="Times New Roman" panose="02020603050405020304" pitchFamily="18" charset="0"/>
                <a:ea typeface="Regular Brush"/>
                <a:cs typeface="Times New Roman" panose="02020603050405020304" pitchFamily="18" charset="0"/>
                <a:sym typeface="Regular Brush"/>
              </a:rPr>
              <a:t>détection</a:t>
            </a:r>
            <a:r>
              <a:rPr lang="en-US" sz="3200" b="1" dirty="0">
                <a:solidFill>
                  <a:srgbClr val="282828"/>
                </a:solidFill>
                <a:latin typeface="Times New Roman" panose="02020603050405020304" pitchFamily="18" charset="0"/>
                <a:ea typeface="Regular Brush"/>
                <a:cs typeface="Times New Roman" panose="02020603050405020304" pitchFamily="18" charset="0"/>
                <a:sym typeface="Regular Brush"/>
              </a:rPr>
              <a:t> et </a:t>
            </a:r>
            <a:r>
              <a:rPr lang="en-US" sz="3200" b="1" dirty="0" err="1">
                <a:solidFill>
                  <a:srgbClr val="282828"/>
                </a:solidFill>
                <a:latin typeface="Times New Roman" panose="02020603050405020304" pitchFamily="18" charset="0"/>
                <a:ea typeface="Regular Brush"/>
                <a:cs typeface="Times New Roman" panose="02020603050405020304" pitchFamily="18" charset="0"/>
                <a:sym typeface="Regular Brush"/>
              </a:rPr>
              <a:t>localisation</a:t>
            </a:r>
            <a:r>
              <a:rPr lang="en-US" sz="3200" b="1" dirty="0">
                <a:solidFill>
                  <a:srgbClr val="282828"/>
                </a:solidFill>
                <a:latin typeface="Times New Roman" panose="02020603050405020304" pitchFamily="18" charset="0"/>
                <a:ea typeface="Regular Brush"/>
                <a:cs typeface="Times New Roman" panose="02020603050405020304" pitchFamily="18" charset="0"/>
                <a:sym typeface="Regular Brush"/>
              </a:rPr>
              <a:t> des </a:t>
            </a:r>
            <a:r>
              <a:rPr lang="en-US" sz="3200" b="1" dirty="0" err="1">
                <a:solidFill>
                  <a:srgbClr val="282828"/>
                </a:solidFill>
                <a:latin typeface="Times New Roman" panose="02020603050405020304" pitchFamily="18" charset="0"/>
                <a:ea typeface="Regular Brush"/>
                <a:cs typeface="Times New Roman" panose="02020603050405020304" pitchFamily="18" charset="0"/>
                <a:sym typeface="Regular Brush"/>
              </a:rPr>
              <a:t>défauts</a:t>
            </a:r>
            <a:r>
              <a:rPr lang="en-US" sz="3200" b="1" dirty="0">
                <a:solidFill>
                  <a:srgbClr val="282828"/>
                </a:solidFill>
                <a:latin typeface="Times New Roman" panose="02020603050405020304" pitchFamily="18" charset="0"/>
                <a:ea typeface="Regular Brush"/>
                <a:cs typeface="Times New Roman" panose="02020603050405020304" pitchFamily="18" charset="0"/>
                <a:sym typeface="Regular Brush"/>
              </a:rPr>
              <a:t> de surface sur les trains à </a:t>
            </a:r>
            <a:r>
              <a:rPr lang="en-US" sz="3200" b="1" dirty="0" err="1">
                <a:solidFill>
                  <a:srgbClr val="282828"/>
                </a:solidFill>
                <a:latin typeface="Times New Roman" panose="02020603050405020304" pitchFamily="18" charset="0"/>
                <a:ea typeface="Regular Brush"/>
                <a:cs typeface="Times New Roman" panose="02020603050405020304" pitchFamily="18" charset="0"/>
                <a:sym typeface="Regular Brush"/>
              </a:rPr>
              <a:t>grande</a:t>
            </a:r>
            <a:r>
              <a:rPr lang="en-US" sz="3200" b="1" dirty="0">
                <a:solidFill>
                  <a:srgbClr val="282828"/>
                </a:solidFill>
                <a:latin typeface="Times New Roman" panose="02020603050405020304" pitchFamily="18" charset="0"/>
                <a:ea typeface="Regular Brush"/>
                <a:cs typeface="Times New Roman" panose="02020603050405020304" pitchFamily="18" charset="0"/>
                <a:sym typeface="Regular Brush"/>
              </a:rPr>
              <a:t> </a:t>
            </a:r>
            <a:r>
              <a:rPr lang="en-US" sz="3200" b="1" dirty="0" err="1">
                <a:solidFill>
                  <a:srgbClr val="282828"/>
                </a:solidFill>
                <a:latin typeface="Times New Roman" panose="02020603050405020304" pitchFamily="18" charset="0"/>
                <a:ea typeface="Regular Brush"/>
                <a:cs typeface="Times New Roman" panose="02020603050405020304" pitchFamily="18" charset="0"/>
                <a:sym typeface="Regular Brush"/>
              </a:rPr>
              <a:t>vitesse</a:t>
            </a:r>
            <a:endParaRPr lang="en-US" sz="3200" b="1" dirty="0">
              <a:solidFill>
                <a:srgbClr val="282828"/>
              </a:solidFill>
              <a:latin typeface="Times New Roman" panose="02020603050405020304" pitchFamily="18" charset="0"/>
              <a:ea typeface="Regular Brush"/>
              <a:cs typeface="Times New Roman" panose="02020603050405020304" pitchFamily="18" charset="0"/>
              <a:sym typeface="Regular Brush"/>
            </a:endParaRPr>
          </a:p>
        </p:txBody>
      </p:sp>
      <p:sp>
        <p:nvSpPr>
          <p:cNvPr id="43" name="Freeform 9"/>
          <p:cNvSpPr/>
          <p:nvPr/>
        </p:nvSpPr>
        <p:spPr>
          <a:xfrm>
            <a:off x="-93708" y="123019"/>
            <a:ext cx="5265842" cy="2098141"/>
          </a:xfrm>
          <a:custGeom>
            <a:avLst/>
            <a:gdLst/>
            <a:ahLst/>
            <a:cxnLst/>
            <a:rect l="l" t="t" r="r" b="b"/>
            <a:pathLst>
              <a:path w="6652984" h="2261638">
                <a:moveTo>
                  <a:pt x="0" y="0"/>
                </a:moveTo>
                <a:lnTo>
                  <a:pt x="6652985" y="0"/>
                </a:lnTo>
                <a:lnTo>
                  <a:pt x="6652985" y="2261638"/>
                </a:lnTo>
                <a:lnTo>
                  <a:pt x="0" y="22616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4" name="Freeform 10"/>
          <p:cNvSpPr/>
          <p:nvPr/>
        </p:nvSpPr>
        <p:spPr>
          <a:xfrm>
            <a:off x="15941108" y="-291776"/>
            <a:ext cx="2346892" cy="2526282"/>
          </a:xfrm>
          <a:custGeom>
            <a:avLst/>
            <a:gdLst/>
            <a:ahLst/>
            <a:cxnLst/>
            <a:rect l="l" t="t" r="r" b="b"/>
            <a:pathLst>
              <a:path w="2346892" h="2901466">
                <a:moveTo>
                  <a:pt x="0" y="0"/>
                </a:moveTo>
                <a:lnTo>
                  <a:pt x="2346892" y="0"/>
                </a:lnTo>
                <a:lnTo>
                  <a:pt x="2346892" y="2901466"/>
                </a:lnTo>
                <a:lnTo>
                  <a:pt x="0" y="29014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704725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2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2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Forma libre: forma 74">
            <a:extLst>
              <a:ext uri="{FF2B5EF4-FFF2-40B4-BE49-F238E27FC236}">
                <a16:creationId xmlns:a16="http://schemas.microsoft.com/office/drawing/2014/main" id="{17CBFB39-9B1A-E984-B33B-2704106041FB}"/>
              </a:ext>
            </a:extLst>
          </p:cNvPr>
          <p:cNvSpPr/>
          <p:nvPr/>
        </p:nvSpPr>
        <p:spPr>
          <a:xfrm rot="9441101">
            <a:off x="1633259" y="1751156"/>
            <a:ext cx="2583815" cy="2361680"/>
          </a:xfrm>
          <a:custGeom>
            <a:avLst/>
            <a:gdLst>
              <a:gd name="connsiteX0" fmla="*/ 0 w 1722543"/>
              <a:gd name="connsiteY0" fmla="*/ 1419740 h 1574453"/>
              <a:gd name="connsiteX1" fmla="*/ 416589 w 1722543"/>
              <a:gd name="connsiteY1" fmla="*/ 421324 h 1574453"/>
              <a:gd name="connsiteX2" fmla="*/ 458006 w 1722543"/>
              <a:gd name="connsiteY2" fmla="*/ 436200 h 1574453"/>
              <a:gd name="connsiteX3" fmla="*/ 563850 w 1722543"/>
              <a:gd name="connsiteY3" fmla="*/ 459748 h 1574453"/>
              <a:gd name="connsiteX4" fmla="*/ 830504 w 1722543"/>
              <a:gd name="connsiteY4" fmla="*/ 0 h 1574453"/>
              <a:gd name="connsiteX5" fmla="*/ 1098777 w 1722543"/>
              <a:gd name="connsiteY5" fmla="*/ 462542 h 1574453"/>
              <a:gd name="connsiteX6" fmla="*/ 1217420 w 1722543"/>
              <a:gd name="connsiteY6" fmla="*/ 435667 h 1574453"/>
              <a:gd name="connsiteX7" fmla="*/ 1311131 w 1722543"/>
              <a:gd name="connsiteY7" fmla="*/ 402266 h 1574453"/>
              <a:gd name="connsiteX8" fmla="*/ 1722543 w 1722543"/>
              <a:gd name="connsiteY8" fmla="*/ 1402823 h 1574453"/>
              <a:gd name="connsiteX9" fmla="*/ 1531045 w 1722543"/>
              <a:gd name="connsiteY9" fmla="*/ 1471082 h 1574453"/>
              <a:gd name="connsiteX10" fmla="*/ 145650 w 1722543"/>
              <a:gd name="connsiteY10" fmla="*/ 1472055 h 157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22543" h="1574453">
                <a:moveTo>
                  <a:pt x="0" y="1419740"/>
                </a:moveTo>
                <a:lnTo>
                  <a:pt x="416589" y="421324"/>
                </a:lnTo>
                <a:lnTo>
                  <a:pt x="458006" y="436200"/>
                </a:lnTo>
                <a:lnTo>
                  <a:pt x="563850" y="459748"/>
                </a:lnTo>
                <a:lnTo>
                  <a:pt x="830504" y="0"/>
                </a:lnTo>
                <a:lnTo>
                  <a:pt x="1098777" y="462542"/>
                </a:lnTo>
                <a:lnTo>
                  <a:pt x="1217420" y="435667"/>
                </a:lnTo>
                <a:lnTo>
                  <a:pt x="1311131" y="402266"/>
                </a:lnTo>
                <a:lnTo>
                  <a:pt x="1722543" y="1402823"/>
                </a:lnTo>
                <a:lnTo>
                  <a:pt x="1531045" y="1471082"/>
                </a:lnTo>
                <a:cubicBezTo>
                  <a:pt x="1090915" y="1604665"/>
                  <a:pt x="610229" y="1612757"/>
                  <a:pt x="145650" y="1472055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/>
          </a:p>
        </p:txBody>
      </p:sp>
      <p:sp>
        <p:nvSpPr>
          <p:cNvPr id="82" name="Forma libre: forma 81">
            <a:extLst>
              <a:ext uri="{FF2B5EF4-FFF2-40B4-BE49-F238E27FC236}">
                <a16:creationId xmlns:a16="http://schemas.microsoft.com/office/drawing/2014/main" id="{C633E375-5716-A1F9-0A51-5E0D3D096581}"/>
              </a:ext>
            </a:extLst>
          </p:cNvPr>
          <p:cNvSpPr/>
          <p:nvPr/>
        </p:nvSpPr>
        <p:spPr>
          <a:xfrm rot="6359531">
            <a:off x="380822" y="3037730"/>
            <a:ext cx="2523615" cy="2358197"/>
          </a:xfrm>
          <a:custGeom>
            <a:avLst/>
            <a:gdLst>
              <a:gd name="connsiteX0" fmla="*/ 0 w 1682410"/>
              <a:gd name="connsiteY0" fmla="*/ 1339429 h 1572131"/>
              <a:gd name="connsiteX1" fmla="*/ 525938 w 1682410"/>
              <a:gd name="connsiteY1" fmla="*/ 390916 h 1572131"/>
              <a:gd name="connsiteX2" fmla="*/ 617201 w 1682410"/>
              <a:gd name="connsiteY2" fmla="*/ 425577 h 1572131"/>
              <a:gd name="connsiteX3" fmla="*/ 688037 w 1682410"/>
              <a:gd name="connsiteY3" fmla="*/ 443104 h 1572131"/>
              <a:gd name="connsiteX4" fmla="*/ 945037 w 1682410"/>
              <a:gd name="connsiteY4" fmla="*/ 0 h 1572131"/>
              <a:gd name="connsiteX5" fmla="*/ 1220002 w 1682410"/>
              <a:gd name="connsiteY5" fmla="*/ 474078 h 1572131"/>
              <a:gd name="connsiteX6" fmla="*/ 1286231 w 1682410"/>
              <a:gd name="connsiteY6" fmla="*/ 463023 h 1572131"/>
              <a:gd name="connsiteX7" fmla="*/ 1384357 w 1682410"/>
              <a:gd name="connsiteY7" fmla="*/ 438882 h 1572131"/>
              <a:gd name="connsiteX8" fmla="*/ 1682410 w 1682410"/>
              <a:gd name="connsiteY8" fmla="*/ 1478854 h 1572131"/>
              <a:gd name="connsiteX9" fmla="*/ 67734 w 1682410"/>
              <a:gd name="connsiteY9" fmla="*/ 1372867 h 1572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82410" h="1572131">
                <a:moveTo>
                  <a:pt x="0" y="1339429"/>
                </a:moveTo>
                <a:lnTo>
                  <a:pt x="525938" y="390916"/>
                </a:lnTo>
                <a:lnTo>
                  <a:pt x="617201" y="425577"/>
                </a:lnTo>
                <a:lnTo>
                  <a:pt x="688037" y="443104"/>
                </a:lnTo>
                <a:lnTo>
                  <a:pt x="945037" y="0"/>
                </a:lnTo>
                <a:lnTo>
                  <a:pt x="1220002" y="474078"/>
                </a:lnTo>
                <a:lnTo>
                  <a:pt x="1286231" y="463023"/>
                </a:lnTo>
                <a:cubicBezTo>
                  <a:pt x="1318967" y="456279"/>
                  <a:pt x="1351695" y="448243"/>
                  <a:pt x="1384357" y="438882"/>
                </a:cubicBezTo>
                <a:lnTo>
                  <a:pt x="1682410" y="1478854"/>
                </a:lnTo>
                <a:cubicBezTo>
                  <a:pt x="1126281" y="1638239"/>
                  <a:pt x="559691" y="1587183"/>
                  <a:pt x="67734" y="1372867"/>
                </a:cubicBezTo>
                <a:close/>
              </a:path>
            </a:pathLst>
          </a:custGeom>
          <a:solidFill>
            <a:srgbClr val="2938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/>
          </a:p>
        </p:txBody>
      </p:sp>
      <p:sp>
        <p:nvSpPr>
          <p:cNvPr id="81" name="Forma libre: forma 80">
            <a:extLst>
              <a:ext uri="{FF2B5EF4-FFF2-40B4-BE49-F238E27FC236}">
                <a16:creationId xmlns:a16="http://schemas.microsoft.com/office/drawing/2014/main" id="{D99731E8-9A2D-CFE3-DA25-F3CA9B443657}"/>
              </a:ext>
            </a:extLst>
          </p:cNvPr>
          <p:cNvSpPr/>
          <p:nvPr/>
        </p:nvSpPr>
        <p:spPr>
          <a:xfrm rot="3837329">
            <a:off x="471907" y="4895475"/>
            <a:ext cx="2456168" cy="2412393"/>
          </a:xfrm>
          <a:custGeom>
            <a:avLst/>
            <a:gdLst>
              <a:gd name="connsiteX0" fmla="*/ 0 w 1637445"/>
              <a:gd name="connsiteY0" fmla="*/ 1435643 h 1608262"/>
              <a:gd name="connsiteX1" fmla="*/ 477079 w 1637445"/>
              <a:gd name="connsiteY1" fmla="*/ 459413 h 1608262"/>
              <a:gd name="connsiteX2" fmla="*/ 558205 w 1637445"/>
              <a:gd name="connsiteY2" fmla="*/ 484786 h 1608262"/>
              <a:gd name="connsiteX3" fmla="*/ 587557 w 1637445"/>
              <a:gd name="connsiteY3" fmla="*/ 490446 h 1608262"/>
              <a:gd name="connsiteX4" fmla="*/ 872016 w 1637445"/>
              <a:gd name="connsiteY4" fmla="*/ 0 h 1608262"/>
              <a:gd name="connsiteX5" fmla="*/ 1159357 w 1637445"/>
              <a:gd name="connsiteY5" fmla="*/ 495416 h 1608262"/>
              <a:gd name="connsiteX6" fmla="*/ 1190505 w 1637445"/>
              <a:gd name="connsiteY6" fmla="*/ 489893 h 1608262"/>
              <a:gd name="connsiteX7" fmla="*/ 1286027 w 1637445"/>
              <a:gd name="connsiteY7" fmla="*/ 462102 h 1608262"/>
              <a:gd name="connsiteX8" fmla="*/ 1637445 w 1637445"/>
              <a:gd name="connsiteY8" fmla="*/ 1485275 h 1608262"/>
              <a:gd name="connsiteX9" fmla="*/ 1442241 w 1637445"/>
              <a:gd name="connsiteY9" fmla="*/ 1542069 h 1608262"/>
              <a:gd name="connsiteX10" fmla="*/ 59222 w 1637445"/>
              <a:gd name="connsiteY10" fmla="*/ 1460970 h 1608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37445" h="1608262">
                <a:moveTo>
                  <a:pt x="0" y="1435643"/>
                </a:moveTo>
                <a:lnTo>
                  <a:pt x="477079" y="459413"/>
                </a:lnTo>
                <a:lnTo>
                  <a:pt x="558205" y="484786"/>
                </a:lnTo>
                <a:lnTo>
                  <a:pt x="587557" y="490446"/>
                </a:lnTo>
                <a:lnTo>
                  <a:pt x="872016" y="0"/>
                </a:lnTo>
                <a:lnTo>
                  <a:pt x="1159357" y="495416"/>
                </a:lnTo>
                <a:lnTo>
                  <a:pt x="1190505" y="489893"/>
                </a:lnTo>
                <a:lnTo>
                  <a:pt x="1286027" y="462102"/>
                </a:lnTo>
                <a:lnTo>
                  <a:pt x="1637445" y="1485275"/>
                </a:lnTo>
                <a:lnTo>
                  <a:pt x="1442241" y="1542069"/>
                </a:lnTo>
                <a:cubicBezTo>
                  <a:pt x="994971" y="1649344"/>
                  <a:pt x="514648" y="1628945"/>
                  <a:pt x="59222" y="1460970"/>
                </a:cubicBezTo>
                <a:close/>
              </a:path>
            </a:pathLst>
          </a:custGeom>
          <a:solidFill>
            <a:srgbClr val="66C3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/>
          </a:p>
        </p:txBody>
      </p:sp>
      <p:sp>
        <p:nvSpPr>
          <p:cNvPr id="80" name="Forma libre: forma 79">
            <a:extLst>
              <a:ext uri="{FF2B5EF4-FFF2-40B4-BE49-F238E27FC236}">
                <a16:creationId xmlns:a16="http://schemas.microsoft.com/office/drawing/2014/main" id="{5034DF3A-9F2A-0C91-27E5-DA20D1664A39}"/>
              </a:ext>
            </a:extLst>
          </p:cNvPr>
          <p:cNvSpPr/>
          <p:nvPr/>
        </p:nvSpPr>
        <p:spPr>
          <a:xfrm rot="1527400">
            <a:off x="1837352" y="6288928"/>
            <a:ext cx="2398503" cy="2304185"/>
          </a:xfrm>
          <a:custGeom>
            <a:avLst/>
            <a:gdLst>
              <a:gd name="connsiteX0" fmla="*/ 740284 w 1599002"/>
              <a:gd name="connsiteY0" fmla="*/ 0 h 1536123"/>
              <a:gd name="connsiteX1" fmla="*/ 978608 w 1599002"/>
              <a:gd name="connsiteY1" fmla="*/ 410904 h 1536123"/>
              <a:gd name="connsiteX2" fmla="*/ 1093357 w 1599002"/>
              <a:gd name="connsiteY2" fmla="*/ 377861 h 1536123"/>
              <a:gd name="connsiteX3" fmla="*/ 1133997 w 1599002"/>
              <a:gd name="connsiteY3" fmla="*/ 360973 h 1536123"/>
              <a:gd name="connsiteX4" fmla="*/ 1599002 w 1599002"/>
              <a:gd name="connsiteY4" fmla="*/ 1337778 h 1536123"/>
              <a:gd name="connsiteX5" fmla="*/ 1456090 w 1599002"/>
              <a:gd name="connsiteY5" fmla="*/ 1397168 h 1536123"/>
              <a:gd name="connsiteX6" fmla="*/ 72312 w 1599002"/>
              <a:gd name="connsiteY6" fmla="*/ 1464073 h 1536123"/>
              <a:gd name="connsiteX7" fmla="*/ 0 w 1599002"/>
              <a:gd name="connsiteY7" fmla="*/ 1442227 h 1536123"/>
              <a:gd name="connsiteX8" fmla="*/ 362809 w 1599002"/>
              <a:gd name="connsiteY8" fmla="*/ 420142 h 1536123"/>
              <a:gd name="connsiteX9" fmla="*/ 458532 w 1599002"/>
              <a:gd name="connsiteY9" fmla="*/ 439325 h 1536123"/>
              <a:gd name="connsiteX10" fmla="*/ 484142 w 1599002"/>
              <a:gd name="connsiteY10" fmla="*/ 441624 h 1536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99002" h="1536123">
                <a:moveTo>
                  <a:pt x="740284" y="0"/>
                </a:moveTo>
                <a:lnTo>
                  <a:pt x="978608" y="410904"/>
                </a:lnTo>
                <a:lnTo>
                  <a:pt x="1093357" y="377861"/>
                </a:lnTo>
                <a:lnTo>
                  <a:pt x="1133997" y="360973"/>
                </a:lnTo>
                <a:lnTo>
                  <a:pt x="1599002" y="1337778"/>
                </a:lnTo>
                <a:lnTo>
                  <a:pt x="1456090" y="1397168"/>
                </a:lnTo>
                <a:cubicBezTo>
                  <a:pt x="998963" y="1560463"/>
                  <a:pt x="518457" y="1575932"/>
                  <a:pt x="72312" y="1464073"/>
                </a:cubicBezTo>
                <a:lnTo>
                  <a:pt x="0" y="1442227"/>
                </a:lnTo>
                <a:lnTo>
                  <a:pt x="362809" y="420142"/>
                </a:lnTo>
                <a:lnTo>
                  <a:pt x="458532" y="439325"/>
                </a:lnTo>
                <a:lnTo>
                  <a:pt x="484142" y="441624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/>
          </a:p>
        </p:txBody>
      </p:sp>
      <p:sp>
        <p:nvSpPr>
          <p:cNvPr id="79" name="Forma libre: forma 78">
            <a:extLst>
              <a:ext uri="{FF2B5EF4-FFF2-40B4-BE49-F238E27FC236}">
                <a16:creationId xmlns:a16="http://schemas.microsoft.com/office/drawing/2014/main" id="{74C148B6-C785-A189-E6BB-CBA5AB81C06B}"/>
              </a:ext>
            </a:extLst>
          </p:cNvPr>
          <p:cNvSpPr/>
          <p:nvPr/>
        </p:nvSpPr>
        <p:spPr>
          <a:xfrm rot="20595973">
            <a:off x="3668213" y="6196516"/>
            <a:ext cx="2394521" cy="2352161"/>
          </a:xfrm>
          <a:custGeom>
            <a:avLst/>
            <a:gdLst>
              <a:gd name="connsiteX0" fmla="*/ 696318 w 1596347"/>
              <a:gd name="connsiteY0" fmla="*/ 0 h 1568107"/>
              <a:gd name="connsiteX1" fmla="*/ 949704 w 1596347"/>
              <a:gd name="connsiteY1" fmla="*/ 436874 h 1568107"/>
              <a:gd name="connsiteX2" fmla="*/ 991025 w 1596347"/>
              <a:gd name="connsiteY2" fmla="*/ 426685 h 1568107"/>
              <a:gd name="connsiteX3" fmla="*/ 1082729 w 1596347"/>
              <a:gd name="connsiteY3" fmla="*/ 393208 h 1568107"/>
              <a:gd name="connsiteX4" fmla="*/ 1596347 w 1596347"/>
              <a:gd name="connsiteY4" fmla="*/ 1348448 h 1568107"/>
              <a:gd name="connsiteX5" fmla="*/ 1528186 w 1596347"/>
              <a:gd name="connsiteY5" fmla="*/ 1381008 h 1568107"/>
              <a:gd name="connsiteX6" fmla="*/ 150267 w 1596347"/>
              <a:gd name="connsiteY6" fmla="*/ 1524732 h 1568107"/>
              <a:gd name="connsiteX7" fmla="*/ 0 w 1596347"/>
              <a:gd name="connsiteY7" fmla="*/ 1487704 h 1568107"/>
              <a:gd name="connsiteX8" fmla="*/ 311490 w 1596347"/>
              <a:gd name="connsiteY8" fmla="*/ 451677 h 1568107"/>
              <a:gd name="connsiteX9" fmla="*/ 354221 w 1596347"/>
              <a:gd name="connsiteY9" fmla="*/ 462206 h 1568107"/>
              <a:gd name="connsiteX10" fmla="*/ 423092 w 1596347"/>
              <a:gd name="connsiteY10" fmla="*/ 471079 h 1568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96347" h="1568107">
                <a:moveTo>
                  <a:pt x="696318" y="0"/>
                </a:moveTo>
                <a:lnTo>
                  <a:pt x="949704" y="436874"/>
                </a:lnTo>
                <a:lnTo>
                  <a:pt x="991025" y="426685"/>
                </a:lnTo>
                <a:lnTo>
                  <a:pt x="1082729" y="393208"/>
                </a:lnTo>
                <a:lnTo>
                  <a:pt x="1596347" y="1348448"/>
                </a:lnTo>
                <a:lnTo>
                  <a:pt x="1528186" y="1381008"/>
                </a:lnTo>
                <a:cubicBezTo>
                  <a:pt x="1104165" y="1559233"/>
                  <a:pt x="626871" y="1616814"/>
                  <a:pt x="150267" y="1524732"/>
                </a:cubicBezTo>
                <a:lnTo>
                  <a:pt x="0" y="1487704"/>
                </a:lnTo>
                <a:lnTo>
                  <a:pt x="311490" y="451677"/>
                </a:lnTo>
                <a:lnTo>
                  <a:pt x="354221" y="462206"/>
                </a:lnTo>
                <a:lnTo>
                  <a:pt x="423092" y="471079"/>
                </a:lnTo>
                <a:close/>
              </a:path>
            </a:pathLst>
          </a:custGeom>
          <a:solidFill>
            <a:srgbClr val="87BD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/>
          </a:p>
        </p:txBody>
      </p:sp>
      <p:sp>
        <p:nvSpPr>
          <p:cNvPr id="78" name="Forma libre: forma 77">
            <a:extLst>
              <a:ext uri="{FF2B5EF4-FFF2-40B4-BE49-F238E27FC236}">
                <a16:creationId xmlns:a16="http://schemas.microsoft.com/office/drawing/2014/main" id="{B3A8E8E7-512B-0B51-5D79-A93066168928}"/>
              </a:ext>
            </a:extLst>
          </p:cNvPr>
          <p:cNvSpPr/>
          <p:nvPr/>
        </p:nvSpPr>
        <p:spPr>
          <a:xfrm rot="17796779">
            <a:off x="4897121" y="4959318"/>
            <a:ext cx="2455308" cy="2312820"/>
          </a:xfrm>
          <a:custGeom>
            <a:avLst/>
            <a:gdLst>
              <a:gd name="connsiteX0" fmla="*/ 1150133 w 1636872"/>
              <a:gd name="connsiteY0" fmla="*/ 388940 h 1541880"/>
              <a:gd name="connsiteX1" fmla="*/ 1636872 w 1636872"/>
              <a:gd name="connsiteY1" fmla="*/ 1360388 h 1541880"/>
              <a:gd name="connsiteX2" fmla="*/ 1577907 w 1636872"/>
              <a:gd name="connsiteY2" fmla="*/ 1386300 h 1541880"/>
              <a:gd name="connsiteX3" fmla="*/ 195760 w 1636872"/>
              <a:gd name="connsiteY3" fmla="*/ 1481117 h 1541880"/>
              <a:gd name="connsiteX4" fmla="*/ 0 w 1636872"/>
              <a:gd name="connsiteY4" fmla="*/ 1426262 h 1541880"/>
              <a:gd name="connsiteX5" fmla="*/ 341249 w 1636872"/>
              <a:gd name="connsiteY5" fmla="*/ 399653 h 1541880"/>
              <a:gd name="connsiteX6" fmla="*/ 437045 w 1636872"/>
              <a:gd name="connsiteY6" fmla="*/ 426496 h 1541880"/>
              <a:gd name="connsiteX7" fmla="*/ 502824 w 1636872"/>
              <a:gd name="connsiteY7" fmla="*/ 437488 h 1541880"/>
              <a:gd name="connsiteX8" fmla="*/ 756567 w 1636872"/>
              <a:gd name="connsiteY8" fmla="*/ 0 h 1541880"/>
              <a:gd name="connsiteX9" fmla="*/ 1004916 w 1636872"/>
              <a:gd name="connsiteY9" fmla="*/ 428189 h 1541880"/>
              <a:gd name="connsiteX10" fmla="*/ 1069263 w 1636872"/>
              <a:gd name="connsiteY10" fmla="*/ 415116 h 154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36872" h="1541880">
                <a:moveTo>
                  <a:pt x="1150133" y="388940"/>
                </a:moveTo>
                <a:lnTo>
                  <a:pt x="1636872" y="1360388"/>
                </a:lnTo>
                <a:lnTo>
                  <a:pt x="1577907" y="1386300"/>
                </a:lnTo>
                <a:cubicBezTo>
                  <a:pt x="1124169" y="1558786"/>
                  <a:pt x="644072" y="1583950"/>
                  <a:pt x="195760" y="1481117"/>
                </a:cubicBezTo>
                <a:lnTo>
                  <a:pt x="0" y="1426262"/>
                </a:lnTo>
                <a:lnTo>
                  <a:pt x="341249" y="399653"/>
                </a:lnTo>
                <a:lnTo>
                  <a:pt x="437045" y="426496"/>
                </a:lnTo>
                <a:lnTo>
                  <a:pt x="502824" y="437488"/>
                </a:lnTo>
                <a:lnTo>
                  <a:pt x="756567" y="0"/>
                </a:lnTo>
                <a:lnTo>
                  <a:pt x="1004916" y="428189"/>
                </a:lnTo>
                <a:lnTo>
                  <a:pt x="1069263" y="415116"/>
                </a:lnTo>
                <a:close/>
              </a:path>
            </a:pathLst>
          </a:custGeom>
          <a:solidFill>
            <a:srgbClr val="569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/>
          </a:p>
        </p:txBody>
      </p:sp>
      <p:sp>
        <p:nvSpPr>
          <p:cNvPr id="77" name="Forma libre: forma 76">
            <a:extLst>
              <a:ext uri="{FF2B5EF4-FFF2-40B4-BE49-F238E27FC236}">
                <a16:creationId xmlns:a16="http://schemas.microsoft.com/office/drawing/2014/main" id="{A8472191-056C-5376-91E3-95B575A4F460}"/>
              </a:ext>
            </a:extLst>
          </p:cNvPr>
          <p:cNvSpPr/>
          <p:nvPr/>
        </p:nvSpPr>
        <p:spPr>
          <a:xfrm rot="15056664">
            <a:off x="4852676" y="3074391"/>
            <a:ext cx="2531190" cy="2400237"/>
          </a:xfrm>
          <a:custGeom>
            <a:avLst/>
            <a:gdLst>
              <a:gd name="connsiteX0" fmla="*/ 1687460 w 1687460"/>
              <a:gd name="connsiteY0" fmla="*/ 1418990 h 1600158"/>
              <a:gd name="connsiteX1" fmla="*/ 1618034 w 1687460"/>
              <a:gd name="connsiteY1" fmla="*/ 1448761 h 1600158"/>
              <a:gd name="connsiteX2" fmla="*/ 0 w 1687460"/>
              <a:gd name="connsiteY2" fmla="*/ 1468305 h 1600158"/>
              <a:gd name="connsiteX3" fmla="*/ 353206 w 1687460"/>
              <a:gd name="connsiteY3" fmla="*/ 445748 h 1600158"/>
              <a:gd name="connsiteX4" fmla="*/ 547063 w 1687460"/>
              <a:gd name="connsiteY4" fmla="*/ 496709 h 1600158"/>
              <a:gd name="connsiteX5" fmla="*/ 551170 w 1687460"/>
              <a:gd name="connsiteY5" fmla="*/ 497147 h 1600158"/>
              <a:gd name="connsiteX6" fmla="*/ 839515 w 1687460"/>
              <a:gd name="connsiteY6" fmla="*/ 0 h 1600158"/>
              <a:gd name="connsiteX7" fmla="*/ 1114707 w 1687460"/>
              <a:gd name="connsiteY7" fmla="*/ 474469 h 1600158"/>
              <a:gd name="connsiteX8" fmla="*/ 1119975 w 1687460"/>
              <a:gd name="connsiteY8" fmla="*/ 473461 h 1600158"/>
              <a:gd name="connsiteX9" fmla="*/ 1212962 w 1687460"/>
              <a:gd name="connsiteY9" fmla="*/ 443725 h 160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87460" h="1600158">
                <a:moveTo>
                  <a:pt x="1687460" y="1418990"/>
                </a:moveTo>
                <a:lnTo>
                  <a:pt x="1618034" y="1448761"/>
                </a:lnTo>
                <a:cubicBezTo>
                  <a:pt x="1115326" y="1636479"/>
                  <a:pt x="546817" y="1657183"/>
                  <a:pt x="0" y="1468305"/>
                </a:cubicBezTo>
                <a:lnTo>
                  <a:pt x="353206" y="445748"/>
                </a:lnTo>
                <a:cubicBezTo>
                  <a:pt x="417436" y="467934"/>
                  <a:pt x="482213" y="484844"/>
                  <a:pt x="547063" y="496709"/>
                </a:cubicBezTo>
                <a:lnTo>
                  <a:pt x="551170" y="497147"/>
                </a:lnTo>
                <a:lnTo>
                  <a:pt x="839515" y="0"/>
                </a:lnTo>
                <a:lnTo>
                  <a:pt x="1114707" y="474469"/>
                </a:lnTo>
                <a:lnTo>
                  <a:pt x="1119975" y="473461"/>
                </a:lnTo>
                <a:lnTo>
                  <a:pt x="1212962" y="4437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/>
          </a:p>
        </p:txBody>
      </p:sp>
      <p:sp>
        <p:nvSpPr>
          <p:cNvPr id="76" name="Forma libre: forma 75">
            <a:extLst>
              <a:ext uri="{FF2B5EF4-FFF2-40B4-BE49-F238E27FC236}">
                <a16:creationId xmlns:a16="http://schemas.microsoft.com/office/drawing/2014/main" id="{B920755C-6FB3-4B89-5D24-5A024BA9DA71}"/>
              </a:ext>
            </a:extLst>
          </p:cNvPr>
          <p:cNvSpPr/>
          <p:nvPr/>
        </p:nvSpPr>
        <p:spPr>
          <a:xfrm rot="12220945">
            <a:off x="3541511" y="1744488"/>
            <a:ext cx="2583851" cy="2365281"/>
          </a:xfrm>
          <a:custGeom>
            <a:avLst/>
            <a:gdLst>
              <a:gd name="connsiteX0" fmla="*/ 1722567 w 1722567"/>
              <a:gd name="connsiteY0" fmla="*/ 1406690 h 1576854"/>
              <a:gd name="connsiteX1" fmla="*/ 1577884 w 1722567"/>
              <a:gd name="connsiteY1" fmla="*/ 1461626 h 1576854"/>
              <a:gd name="connsiteX2" fmla="*/ 192698 w 1722567"/>
              <a:gd name="connsiteY2" fmla="*/ 1485656 h 1576854"/>
              <a:gd name="connsiteX3" fmla="*/ 0 w 1722567"/>
              <a:gd name="connsiteY3" fmla="*/ 1420865 h 1576854"/>
              <a:gd name="connsiteX4" fmla="*/ 393289 w 1722567"/>
              <a:gd name="connsiteY4" fmla="*/ 413045 h 1576854"/>
              <a:gd name="connsiteX5" fmla="*/ 487585 w 1722567"/>
              <a:gd name="connsiteY5" fmla="*/ 444750 h 1576854"/>
              <a:gd name="connsiteX6" fmla="*/ 608971 w 1722567"/>
              <a:gd name="connsiteY6" fmla="*/ 469952 h 1576854"/>
              <a:gd name="connsiteX7" fmla="*/ 881543 w 1722567"/>
              <a:gd name="connsiteY7" fmla="*/ 0 h 1576854"/>
              <a:gd name="connsiteX8" fmla="*/ 1145989 w 1722567"/>
              <a:gd name="connsiteY8" fmla="*/ 455943 h 1576854"/>
              <a:gd name="connsiteX9" fmla="*/ 1246885 w 1722567"/>
              <a:gd name="connsiteY9" fmla="*/ 431578 h 1576854"/>
              <a:gd name="connsiteX10" fmla="*/ 1288028 w 1722567"/>
              <a:gd name="connsiteY10" fmla="*/ 415956 h 1576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22567" h="1576854">
                <a:moveTo>
                  <a:pt x="1722567" y="1406690"/>
                </a:moveTo>
                <a:lnTo>
                  <a:pt x="1577884" y="1461626"/>
                </a:lnTo>
                <a:cubicBezTo>
                  <a:pt x="1115921" y="1610690"/>
                  <a:pt x="635166" y="1611275"/>
                  <a:pt x="192698" y="1485656"/>
                </a:cubicBezTo>
                <a:lnTo>
                  <a:pt x="0" y="1420865"/>
                </a:lnTo>
                <a:lnTo>
                  <a:pt x="393289" y="413045"/>
                </a:lnTo>
                <a:lnTo>
                  <a:pt x="487585" y="444750"/>
                </a:lnTo>
                <a:lnTo>
                  <a:pt x="608971" y="469952"/>
                </a:lnTo>
                <a:lnTo>
                  <a:pt x="881543" y="0"/>
                </a:lnTo>
                <a:lnTo>
                  <a:pt x="1145989" y="455943"/>
                </a:lnTo>
                <a:lnTo>
                  <a:pt x="1246885" y="431578"/>
                </a:lnTo>
                <a:lnTo>
                  <a:pt x="1288028" y="415956"/>
                </a:lnTo>
                <a:close/>
              </a:path>
            </a:pathLst>
          </a:custGeom>
          <a:solidFill>
            <a:srgbClr val="2886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/>
          </a:p>
        </p:txBody>
      </p:sp>
      <p:pic>
        <p:nvPicPr>
          <p:cNvPr id="106" name="Gráfico 105">
            <a:extLst>
              <a:ext uri="{FF2B5EF4-FFF2-40B4-BE49-F238E27FC236}">
                <a16:creationId xmlns:a16="http://schemas.microsoft.com/office/drawing/2014/main" id="{1F5B269D-6297-315E-F8DD-36CEAC3D1A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31330" y="2077293"/>
            <a:ext cx="986856" cy="986856"/>
          </a:xfrm>
          <a:prstGeom prst="rect">
            <a:avLst/>
          </a:prstGeom>
        </p:spPr>
      </p:pic>
      <p:pic>
        <p:nvPicPr>
          <p:cNvPr id="109" name="Gráfico 108">
            <a:extLst>
              <a:ext uri="{FF2B5EF4-FFF2-40B4-BE49-F238E27FC236}">
                <a16:creationId xmlns:a16="http://schemas.microsoft.com/office/drawing/2014/main" id="{48E7B41F-D1EB-D2A1-7850-D3E581F211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14606" y="5849339"/>
            <a:ext cx="986856" cy="986856"/>
          </a:xfrm>
          <a:prstGeom prst="rect">
            <a:avLst/>
          </a:prstGeom>
        </p:spPr>
      </p:pic>
      <p:pic>
        <p:nvPicPr>
          <p:cNvPr id="110" name="Gráfico 109">
            <a:extLst>
              <a:ext uri="{FF2B5EF4-FFF2-40B4-BE49-F238E27FC236}">
                <a16:creationId xmlns:a16="http://schemas.microsoft.com/office/drawing/2014/main" id="{42CA8E54-87D4-CF3A-090A-1A427D6CE9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71669" y="3781082"/>
            <a:ext cx="986856" cy="986856"/>
          </a:xfrm>
          <a:prstGeom prst="rect">
            <a:avLst/>
          </a:prstGeom>
        </p:spPr>
      </p:pic>
      <p:pic>
        <p:nvPicPr>
          <p:cNvPr id="111" name="Gráfico 110">
            <a:extLst>
              <a:ext uri="{FF2B5EF4-FFF2-40B4-BE49-F238E27FC236}">
                <a16:creationId xmlns:a16="http://schemas.microsoft.com/office/drawing/2014/main" id="{48D484F1-C155-5977-FA59-4E5682298DA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246385" y="2245220"/>
            <a:ext cx="986856" cy="986856"/>
          </a:xfrm>
          <a:prstGeom prst="rect">
            <a:avLst/>
          </a:prstGeom>
        </p:spPr>
      </p:pic>
      <p:pic>
        <p:nvPicPr>
          <p:cNvPr id="112" name="Gráfico 111">
            <a:extLst>
              <a:ext uri="{FF2B5EF4-FFF2-40B4-BE49-F238E27FC236}">
                <a16:creationId xmlns:a16="http://schemas.microsoft.com/office/drawing/2014/main" id="{5C34FB73-F81E-AE52-3A93-38643326F24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24574" y="3700152"/>
            <a:ext cx="986856" cy="986856"/>
          </a:xfrm>
          <a:prstGeom prst="rect">
            <a:avLst/>
          </a:prstGeom>
        </p:spPr>
      </p:pic>
      <p:pic>
        <p:nvPicPr>
          <p:cNvPr id="113" name="Gráfico 112">
            <a:extLst>
              <a:ext uri="{FF2B5EF4-FFF2-40B4-BE49-F238E27FC236}">
                <a16:creationId xmlns:a16="http://schemas.microsoft.com/office/drawing/2014/main" id="{5BF5576A-396D-F58F-4AA4-E60B5BAB161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89769" y="5852165"/>
            <a:ext cx="986856" cy="986856"/>
          </a:xfrm>
          <a:prstGeom prst="rect">
            <a:avLst/>
          </a:prstGeom>
        </p:spPr>
      </p:pic>
      <p:pic>
        <p:nvPicPr>
          <p:cNvPr id="114" name="Gráfico 113" descr="Engranaje único con relleno sólido">
            <a:extLst>
              <a:ext uri="{FF2B5EF4-FFF2-40B4-BE49-F238E27FC236}">
                <a16:creationId xmlns:a16="http://schemas.microsoft.com/office/drawing/2014/main" id="{3949158C-9C0F-E093-B0E1-710D13639C7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 rot="1800000">
            <a:off x="2577047" y="4036928"/>
            <a:ext cx="2423036" cy="2423036"/>
          </a:xfrm>
          <a:prstGeom prst="rect">
            <a:avLst/>
          </a:prstGeom>
        </p:spPr>
      </p:pic>
      <p:pic>
        <p:nvPicPr>
          <p:cNvPr id="25" name="Gráfico 106">
            <a:extLst>
              <a:ext uri="{FF2B5EF4-FFF2-40B4-BE49-F238E27FC236}">
                <a16:creationId xmlns:a16="http://schemas.microsoft.com/office/drawing/2014/main" id="{97D2CADB-DA89-4CD5-BB41-7E74141F046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2423627" y="7157312"/>
            <a:ext cx="986856" cy="986856"/>
          </a:xfrm>
          <a:prstGeom prst="rect">
            <a:avLst/>
          </a:prstGeom>
        </p:spPr>
      </p:pic>
      <p:pic>
        <p:nvPicPr>
          <p:cNvPr id="26" name="Gráfico 107">
            <a:extLst>
              <a:ext uri="{FF2B5EF4-FFF2-40B4-BE49-F238E27FC236}">
                <a16:creationId xmlns:a16="http://schemas.microsoft.com/office/drawing/2014/main" id="{6A55B0F8-1493-48BC-8E5B-2003324095C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427532" y="7135044"/>
            <a:ext cx="986856" cy="986856"/>
          </a:xfrm>
          <a:prstGeom prst="rect">
            <a:avLst/>
          </a:prstGeom>
        </p:spPr>
      </p:pic>
      <p:grpSp>
        <p:nvGrpSpPr>
          <p:cNvPr id="64" name="Google Shape;116;p2">
            <a:extLst>
              <a:ext uri="{FF2B5EF4-FFF2-40B4-BE49-F238E27FC236}">
                <a16:creationId xmlns:a16="http://schemas.microsoft.com/office/drawing/2014/main" id="{3B0B8C26-38B8-4413-A6E5-3D5BC0C8E75D}"/>
              </a:ext>
            </a:extLst>
          </p:cNvPr>
          <p:cNvGrpSpPr/>
          <p:nvPr/>
        </p:nvGrpSpPr>
        <p:grpSpPr>
          <a:xfrm>
            <a:off x="8141060" y="1735372"/>
            <a:ext cx="11198649" cy="692437"/>
            <a:chOff x="841108" y="1340769"/>
            <a:chExt cx="7475308" cy="465307"/>
          </a:xfrm>
        </p:grpSpPr>
        <p:sp>
          <p:nvSpPr>
            <p:cNvPr id="66" name="Google Shape;118;p2">
              <a:extLst>
                <a:ext uri="{FF2B5EF4-FFF2-40B4-BE49-F238E27FC236}">
                  <a16:creationId xmlns:a16="http://schemas.microsoft.com/office/drawing/2014/main" id="{F971E605-6709-4D18-9763-5396895EAE31}"/>
                </a:ext>
              </a:extLst>
            </p:cNvPr>
            <p:cNvSpPr txBox="1"/>
            <p:nvPr/>
          </p:nvSpPr>
          <p:spPr>
            <a:xfrm>
              <a:off x="841108" y="1340769"/>
              <a:ext cx="1331640" cy="4653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38" tIns="68550" rIns="137138" bIns="68550" anchor="t" anchorCtr="0">
              <a:spAutoFit/>
            </a:bodyPr>
            <a:lstStyle/>
            <a:p>
              <a:pPr algn="l" rtl="0"/>
              <a:endParaRPr sz="36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7" name="Google Shape;119;p2">
              <a:extLst>
                <a:ext uri="{FF2B5EF4-FFF2-40B4-BE49-F238E27FC236}">
                  <a16:creationId xmlns:a16="http://schemas.microsoft.com/office/drawing/2014/main" id="{B1B59ECF-4FD2-4296-9E18-02663B7353D0}"/>
                </a:ext>
              </a:extLst>
            </p:cNvPr>
            <p:cNvSpPr txBox="1"/>
            <p:nvPr/>
          </p:nvSpPr>
          <p:spPr>
            <a:xfrm>
              <a:off x="6984776" y="1340769"/>
              <a:ext cx="1331640" cy="4653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38" tIns="68550" rIns="137138" bIns="68550" anchor="t" anchorCtr="0">
              <a:spAutoFit/>
            </a:bodyPr>
            <a:lstStyle/>
            <a:p>
              <a:pPr algn="l" rtl="0"/>
              <a:endParaRPr sz="3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7" name="Groupe 6"/>
          <p:cNvGrpSpPr/>
          <p:nvPr/>
        </p:nvGrpSpPr>
        <p:grpSpPr>
          <a:xfrm>
            <a:off x="7315200" y="4300402"/>
            <a:ext cx="11212962" cy="788217"/>
            <a:chOff x="7315200" y="4300402"/>
            <a:chExt cx="11212962" cy="788217"/>
          </a:xfrm>
        </p:grpSpPr>
        <p:grpSp>
          <p:nvGrpSpPr>
            <p:cNvPr id="74" name="Google Shape;128;p2">
              <a:extLst>
                <a:ext uri="{FF2B5EF4-FFF2-40B4-BE49-F238E27FC236}">
                  <a16:creationId xmlns:a16="http://schemas.microsoft.com/office/drawing/2014/main" id="{F19886E2-1C8C-40E3-91D9-DFAA3262C614}"/>
                </a:ext>
              </a:extLst>
            </p:cNvPr>
            <p:cNvGrpSpPr/>
            <p:nvPr/>
          </p:nvGrpSpPr>
          <p:grpSpPr>
            <a:xfrm>
              <a:off x="7315200" y="4300402"/>
              <a:ext cx="11212962" cy="761501"/>
              <a:chOff x="841108" y="1294359"/>
              <a:chExt cx="7475308" cy="511716"/>
            </a:xfrm>
          </p:grpSpPr>
          <p:sp>
            <p:nvSpPr>
              <p:cNvPr id="83" name="Google Shape;129;p2">
                <a:extLst>
                  <a:ext uri="{FF2B5EF4-FFF2-40B4-BE49-F238E27FC236}">
                    <a16:creationId xmlns:a16="http://schemas.microsoft.com/office/drawing/2014/main" id="{F32E8064-53BE-4BE5-86BB-921A22F622DE}"/>
                  </a:ext>
                </a:extLst>
              </p:cNvPr>
              <p:cNvSpPr/>
              <p:nvPr/>
            </p:nvSpPr>
            <p:spPr>
              <a:xfrm rot="10800000" flipH="1">
                <a:off x="1921229" y="1294359"/>
                <a:ext cx="5940148" cy="508077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137138" tIns="68550" rIns="137138" bIns="68550" anchor="ctr" anchorCtr="0">
                <a:noAutofit/>
              </a:bodyPr>
              <a:lstStyle/>
              <a:p>
                <a:pPr algn="l" rtl="0"/>
                <a:endParaRPr sz="3000" dirty="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4" name="Google Shape;130;p2">
                <a:extLst>
                  <a:ext uri="{FF2B5EF4-FFF2-40B4-BE49-F238E27FC236}">
                    <a16:creationId xmlns:a16="http://schemas.microsoft.com/office/drawing/2014/main" id="{4F79AD51-B91E-4875-8F33-79AE89535FEA}"/>
                  </a:ext>
                </a:extLst>
              </p:cNvPr>
              <p:cNvSpPr txBox="1"/>
              <p:nvPr/>
            </p:nvSpPr>
            <p:spPr>
              <a:xfrm>
                <a:off x="841108" y="1340769"/>
                <a:ext cx="1331640" cy="4653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37138" tIns="68550" rIns="137138" bIns="68550" anchor="t" anchorCtr="0">
                <a:spAutoFit/>
              </a:bodyPr>
              <a:lstStyle/>
              <a:p>
                <a:pPr algn="l" rtl="0"/>
                <a:endParaRPr sz="36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85" name="Google Shape;131;p2">
                <a:extLst>
                  <a:ext uri="{FF2B5EF4-FFF2-40B4-BE49-F238E27FC236}">
                    <a16:creationId xmlns:a16="http://schemas.microsoft.com/office/drawing/2014/main" id="{C555B69E-39C6-4F1F-8971-9B271D898133}"/>
                  </a:ext>
                </a:extLst>
              </p:cNvPr>
              <p:cNvSpPr txBox="1"/>
              <p:nvPr/>
            </p:nvSpPr>
            <p:spPr>
              <a:xfrm>
                <a:off x="6984776" y="1340769"/>
                <a:ext cx="1331640" cy="4653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37138" tIns="68550" rIns="137138" bIns="68550" anchor="t" anchorCtr="0">
                <a:spAutoFit/>
              </a:bodyPr>
              <a:lstStyle/>
              <a:p>
                <a:pPr algn="l" rtl="0"/>
                <a:endParaRPr sz="360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86" name="Google Shape;132;p2">
              <a:extLst>
                <a:ext uri="{FF2B5EF4-FFF2-40B4-BE49-F238E27FC236}">
                  <a16:creationId xmlns:a16="http://schemas.microsoft.com/office/drawing/2014/main" id="{BE63835A-5BC3-407F-A206-164B578E6759}"/>
                </a:ext>
              </a:extLst>
            </p:cNvPr>
            <p:cNvSpPr/>
            <p:nvPr/>
          </p:nvSpPr>
          <p:spPr>
            <a:xfrm>
              <a:off x="8991600" y="4443966"/>
              <a:ext cx="9444495" cy="5872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38" tIns="68550" rIns="137138" bIns="68550" anchor="t" anchorCtr="0">
              <a:spAutoFit/>
            </a:bodyPr>
            <a:lstStyle/>
            <a:p>
              <a:pPr>
                <a:lnSpc>
                  <a:spcPts val="3479"/>
                </a:lnSpc>
              </a:pPr>
              <a:r>
                <a:rPr lang="en-US" sz="2400" b="1" i="1" dirty="0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T Firs Neue Bold"/>
                </a:rPr>
                <a:t>Revue de </a:t>
              </a:r>
              <a:r>
                <a:rPr lang="en-US" sz="2400" b="1" i="1" dirty="0" err="1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T Firs Neue Bold"/>
                </a:rPr>
                <a:t>Littérature</a:t>
              </a:r>
              <a:r>
                <a:rPr lang="en-US" sz="2400" b="1" i="1" dirty="0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T Firs Neue Bold"/>
                </a:rPr>
                <a:t> et </a:t>
              </a:r>
              <a:r>
                <a:rPr lang="en-US" sz="2400" b="1" i="1" dirty="0" err="1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T Firs Neue Bold"/>
                </a:rPr>
                <a:t>État</a:t>
              </a:r>
              <a:r>
                <a:rPr lang="en-US" sz="2400" b="1" i="1" dirty="0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T Firs Neue Bold"/>
                </a:rPr>
                <a:t> de </a:t>
              </a:r>
              <a:r>
                <a:rPr lang="en-US" sz="2400" b="1" i="1" dirty="0" err="1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T Firs Neue Bold"/>
                </a:rPr>
                <a:t>l’Art</a:t>
              </a:r>
              <a:endParaRPr lang="en-US" sz="24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T Firs Neue Bold"/>
              </a:endParaRPr>
            </a:p>
          </p:txBody>
        </p:sp>
        <p:sp>
          <p:nvSpPr>
            <p:cNvPr id="93" name="Google Shape;139;p2">
              <a:extLst>
                <a:ext uri="{FF2B5EF4-FFF2-40B4-BE49-F238E27FC236}">
                  <a16:creationId xmlns:a16="http://schemas.microsoft.com/office/drawing/2014/main" id="{826C7953-3125-4CB5-B15A-6797D841ABF5}"/>
                </a:ext>
              </a:extLst>
            </p:cNvPr>
            <p:cNvSpPr/>
            <p:nvPr/>
          </p:nvSpPr>
          <p:spPr>
            <a:xfrm>
              <a:off x="8012026" y="4332535"/>
              <a:ext cx="756084" cy="756084"/>
            </a:xfrm>
            <a:prstGeom prst="rect">
              <a:avLst/>
            </a:prstGeom>
            <a:solidFill>
              <a:srgbClr val="28863A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 rtl="0"/>
              <a:r>
                <a:rPr lang="fr-FR" sz="3000" dirty="0" smtClean="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2</a:t>
              </a:r>
              <a:endParaRPr dirty="0"/>
            </a:p>
          </p:txBody>
        </p:sp>
      </p:grpSp>
      <p:grpSp>
        <p:nvGrpSpPr>
          <p:cNvPr id="8" name="Groupe 7"/>
          <p:cNvGrpSpPr/>
          <p:nvPr/>
        </p:nvGrpSpPr>
        <p:grpSpPr>
          <a:xfrm>
            <a:off x="7921276" y="5430461"/>
            <a:ext cx="11828810" cy="758418"/>
            <a:chOff x="7921276" y="5430461"/>
            <a:chExt cx="11828810" cy="758418"/>
          </a:xfrm>
        </p:grpSpPr>
        <p:grpSp>
          <p:nvGrpSpPr>
            <p:cNvPr id="88" name="Google Shape;134;p2">
              <a:extLst>
                <a:ext uri="{FF2B5EF4-FFF2-40B4-BE49-F238E27FC236}">
                  <a16:creationId xmlns:a16="http://schemas.microsoft.com/office/drawing/2014/main" id="{EB004295-CF99-4134-A1BC-0DC1229E3947}"/>
                </a:ext>
              </a:extLst>
            </p:cNvPr>
            <p:cNvGrpSpPr/>
            <p:nvPr/>
          </p:nvGrpSpPr>
          <p:grpSpPr>
            <a:xfrm>
              <a:off x="7921276" y="5430461"/>
              <a:ext cx="11212962" cy="756085"/>
              <a:chOff x="841108" y="1313690"/>
              <a:chExt cx="7475308" cy="508077"/>
            </a:xfrm>
          </p:grpSpPr>
          <p:sp>
            <p:nvSpPr>
              <p:cNvPr id="89" name="Google Shape;135;p2">
                <a:extLst>
                  <a:ext uri="{FF2B5EF4-FFF2-40B4-BE49-F238E27FC236}">
                    <a16:creationId xmlns:a16="http://schemas.microsoft.com/office/drawing/2014/main" id="{F15B84F4-FB17-4A19-A3FF-CD85E4960392}"/>
                  </a:ext>
                </a:extLst>
              </p:cNvPr>
              <p:cNvSpPr/>
              <p:nvPr/>
            </p:nvSpPr>
            <p:spPr>
              <a:xfrm rot="10800000" flipH="1">
                <a:off x="1519277" y="1313690"/>
                <a:ext cx="5940148" cy="508077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137138" tIns="68550" rIns="137138" bIns="68550" anchor="ctr" anchorCtr="0">
                <a:noAutofit/>
              </a:bodyPr>
              <a:lstStyle/>
              <a:p>
                <a:pPr algn="l" rtl="0"/>
                <a:endParaRPr sz="3000" dirty="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0" name="Google Shape;136;p2">
                <a:extLst>
                  <a:ext uri="{FF2B5EF4-FFF2-40B4-BE49-F238E27FC236}">
                    <a16:creationId xmlns:a16="http://schemas.microsoft.com/office/drawing/2014/main" id="{03150177-C032-40C6-A8FB-2A862D32A93E}"/>
                  </a:ext>
                </a:extLst>
              </p:cNvPr>
              <p:cNvSpPr txBox="1"/>
              <p:nvPr/>
            </p:nvSpPr>
            <p:spPr>
              <a:xfrm>
                <a:off x="841108" y="1340769"/>
                <a:ext cx="1331640" cy="4653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37138" tIns="68550" rIns="137138" bIns="68550" anchor="t" anchorCtr="0">
                <a:spAutoFit/>
              </a:bodyPr>
              <a:lstStyle/>
              <a:p>
                <a:pPr algn="l" rtl="0"/>
                <a:endParaRPr sz="36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91" name="Google Shape;137;p2">
                <a:extLst>
                  <a:ext uri="{FF2B5EF4-FFF2-40B4-BE49-F238E27FC236}">
                    <a16:creationId xmlns:a16="http://schemas.microsoft.com/office/drawing/2014/main" id="{C6C11936-1405-4F34-A994-AA645FD87D3B}"/>
                  </a:ext>
                </a:extLst>
              </p:cNvPr>
              <p:cNvSpPr txBox="1"/>
              <p:nvPr/>
            </p:nvSpPr>
            <p:spPr>
              <a:xfrm>
                <a:off x="6984776" y="1340769"/>
                <a:ext cx="1331640" cy="4653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37138" tIns="68550" rIns="137138" bIns="68550" anchor="t" anchorCtr="0">
                <a:spAutoFit/>
              </a:bodyPr>
              <a:lstStyle/>
              <a:p>
                <a:pPr algn="l" rtl="0"/>
                <a:endParaRPr sz="360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92" name="Google Shape;138;p2">
              <a:extLst>
                <a:ext uri="{FF2B5EF4-FFF2-40B4-BE49-F238E27FC236}">
                  <a16:creationId xmlns:a16="http://schemas.microsoft.com/office/drawing/2014/main" id="{089DF33B-76FD-4A01-AD97-3F48B2600564}"/>
                </a:ext>
              </a:extLst>
            </p:cNvPr>
            <p:cNvSpPr/>
            <p:nvPr/>
          </p:nvSpPr>
          <p:spPr>
            <a:xfrm>
              <a:off x="8991600" y="5493183"/>
              <a:ext cx="10758486" cy="5872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38" tIns="68550" rIns="137138" bIns="68550" anchor="t" anchorCtr="0">
              <a:spAutoFit/>
            </a:bodyPr>
            <a:lstStyle/>
            <a:p>
              <a:pPr>
                <a:lnSpc>
                  <a:spcPts val="3479"/>
                </a:lnSpc>
              </a:pPr>
              <a:r>
                <a:rPr lang="en-US" sz="2400" b="1" i="1" dirty="0" err="1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T Firs Neue Bold"/>
                </a:rPr>
                <a:t>Limites</a:t>
              </a:r>
              <a:r>
                <a:rPr lang="en-US" sz="2400" b="1" i="1" dirty="0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T Firs Neue Bold"/>
                </a:rPr>
                <a:t> des solutions </a:t>
              </a:r>
              <a:r>
                <a:rPr lang="en-US" sz="2400" b="1" i="1" dirty="0" err="1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T Firs Neue Bold"/>
                </a:rPr>
                <a:t>existantes</a:t>
              </a:r>
              <a:endParaRPr lang="en-US" sz="24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T Firs Neue Bold"/>
              </a:endParaRPr>
            </a:p>
          </p:txBody>
        </p:sp>
        <p:sp>
          <p:nvSpPr>
            <p:cNvPr id="101" name="Google Shape;158;p2">
              <a:extLst>
                <a:ext uri="{FF2B5EF4-FFF2-40B4-BE49-F238E27FC236}">
                  <a16:creationId xmlns:a16="http://schemas.microsoft.com/office/drawing/2014/main" id="{87002F98-B942-40D7-BF34-50CAC93BB8EE}"/>
                </a:ext>
              </a:extLst>
            </p:cNvPr>
            <p:cNvSpPr/>
            <p:nvPr/>
          </p:nvSpPr>
          <p:spPr>
            <a:xfrm>
              <a:off x="7999774" y="5432795"/>
              <a:ext cx="756084" cy="756084"/>
            </a:xfrm>
            <a:prstGeom prst="rect">
              <a:avLst/>
            </a:prstGeom>
            <a:solidFill>
              <a:srgbClr val="28863A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 rtl="0"/>
              <a:r>
                <a:rPr lang="fr-FR" sz="3000" dirty="0" smtClean="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3</a:t>
              </a:r>
              <a:endParaRPr dirty="0"/>
            </a:p>
          </p:txBody>
        </p:sp>
      </p:grpSp>
      <p:grpSp>
        <p:nvGrpSpPr>
          <p:cNvPr id="9" name="Groupe 8"/>
          <p:cNvGrpSpPr/>
          <p:nvPr/>
        </p:nvGrpSpPr>
        <p:grpSpPr>
          <a:xfrm>
            <a:off x="7999774" y="6530723"/>
            <a:ext cx="9760073" cy="822577"/>
            <a:chOff x="7999774" y="6530723"/>
            <a:chExt cx="9760073" cy="822577"/>
          </a:xfrm>
        </p:grpSpPr>
        <p:sp>
          <p:nvSpPr>
            <p:cNvPr id="2" name="Google Shape;117;p2">
              <a:extLst>
                <a:ext uri="{FF2B5EF4-FFF2-40B4-BE49-F238E27FC236}">
                  <a16:creationId xmlns:a16="http://schemas.microsoft.com/office/drawing/2014/main" id="{4184303E-2D5C-744B-5D6A-F425CECF847E}"/>
                </a:ext>
              </a:extLst>
            </p:cNvPr>
            <p:cNvSpPr/>
            <p:nvPr/>
          </p:nvSpPr>
          <p:spPr>
            <a:xfrm rot="10800000" flipH="1">
              <a:off x="8860998" y="6597214"/>
              <a:ext cx="8898849" cy="75608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l" rtl="0"/>
              <a:endParaRPr sz="3000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00" name="Google Shape;157;p2">
              <a:extLst>
                <a:ext uri="{FF2B5EF4-FFF2-40B4-BE49-F238E27FC236}">
                  <a16:creationId xmlns:a16="http://schemas.microsoft.com/office/drawing/2014/main" id="{C4AD0820-52F7-4457-9891-6D2BC99AC386}"/>
                </a:ext>
              </a:extLst>
            </p:cNvPr>
            <p:cNvSpPr/>
            <p:nvPr/>
          </p:nvSpPr>
          <p:spPr>
            <a:xfrm>
              <a:off x="8959536" y="6700459"/>
              <a:ext cx="8519085" cy="5872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38" tIns="68550" rIns="137138" bIns="68550" anchor="t" anchorCtr="0">
              <a:spAutoFit/>
            </a:bodyPr>
            <a:lstStyle/>
            <a:p>
              <a:pPr>
                <a:lnSpc>
                  <a:spcPts val="3479"/>
                </a:lnSpc>
              </a:pPr>
              <a:r>
                <a:rPr lang="en-US" sz="2400" b="1" i="1" dirty="0" err="1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T Firs Neue Bold"/>
                </a:rPr>
                <a:t>Positionnement</a:t>
              </a:r>
              <a:r>
                <a:rPr lang="en-US" sz="2400" b="1" i="1" dirty="0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T Firs Neue Bold"/>
                </a:rPr>
                <a:t> et Questions</a:t>
              </a:r>
            </a:p>
          </p:txBody>
        </p:sp>
        <p:sp>
          <p:nvSpPr>
            <p:cNvPr id="121" name="Google Shape;158;p2">
              <a:extLst>
                <a:ext uri="{FF2B5EF4-FFF2-40B4-BE49-F238E27FC236}">
                  <a16:creationId xmlns:a16="http://schemas.microsoft.com/office/drawing/2014/main" id="{D0C46012-1A23-432C-BD52-72D9E6B9AA24}"/>
                </a:ext>
              </a:extLst>
            </p:cNvPr>
            <p:cNvSpPr/>
            <p:nvPr/>
          </p:nvSpPr>
          <p:spPr>
            <a:xfrm>
              <a:off x="7999774" y="6530723"/>
              <a:ext cx="756084" cy="756084"/>
            </a:xfrm>
            <a:prstGeom prst="rect">
              <a:avLst/>
            </a:prstGeom>
            <a:solidFill>
              <a:srgbClr val="28863A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 rtl="0"/>
              <a:r>
                <a:rPr lang="fr-FR" sz="3000" dirty="0" smtClean="0">
                  <a:solidFill>
                    <a:srgbClr val="FFFFFF"/>
                  </a:solidFill>
                  <a:latin typeface="Cambria"/>
                  <a:ea typeface="Cambria"/>
                  <a:sym typeface="Cambria"/>
                </a:rPr>
                <a:t>4</a:t>
              </a:r>
              <a:endParaRPr dirty="0"/>
            </a:p>
          </p:txBody>
        </p:sp>
      </p:grpSp>
      <p:sp>
        <p:nvSpPr>
          <p:cNvPr id="102" name="CuadroTexto 114">
            <a:extLst>
              <a:ext uri="{FF2B5EF4-FFF2-40B4-BE49-F238E27FC236}">
                <a16:creationId xmlns:a16="http://schemas.microsoft.com/office/drawing/2014/main" id="{12FE379F-DB52-8B15-4123-E7B105475A7F}"/>
              </a:ext>
            </a:extLst>
          </p:cNvPr>
          <p:cNvSpPr txBox="1"/>
          <p:nvPr/>
        </p:nvSpPr>
        <p:spPr>
          <a:xfrm>
            <a:off x="6663569" y="934863"/>
            <a:ext cx="77913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s-CO" sz="6000" b="1" dirty="0">
                <a:solidFill>
                  <a:srgbClr val="28863A"/>
                </a:solidFill>
                <a:latin typeface="Arial (Headings)"/>
                <a:ea typeface="Lato" panose="020F0502020204030203" pitchFamily="34" charset="0"/>
                <a:cs typeface="Lato" panose="020F0502020204030203" pitchFamily="34" charset="0"/>
                <a:sym typeface="Cambria"/>
              </a:rPr>
              <a:t>PLAN</a:t>
            </a:r>
            <a:endParaRPr lang="es-CO" sz="6000" b="1" dirty="0">
              <a:solidFill>
                <a:srgbClr val="28863A"/>
              </a:solidFill>
              <a:latin typeface="Arial (Headings)"/>
            </a:endParaRPr>
          </a:p>
        </p:txBody>
      </p:sp>
      <p:grpSp>
        <p:nvGrpSpPr>
          <p:cNvPr id="6" name="Groupe 5"/>
          <p:cNvGrpSpPr/>
          <p:nvPr/>
        </p:nvGrpSpPr>
        <p:grpSpPr>
          <a:xfrm>
            <a:off x="8037990" y="3311824"/>
            <a:ext cx="9847639" cy="764965"/>
            <a:chOff x="8037990" y="3311824"/>
            <a:chExt cx="9847639" cy="764965"/>
          </a:xfrm>
        </p:grpSpPr>
        <p:sp>
          <p:nvSpPr>
            <p:cNvPr id="87" name="Google Shape;133;p2">
              <a:extLst>
                <a:ext uri="{FF2B5EF4-FFF2-40B4-BE49-F238E27FC236}">
                  <a16:creationId xmlns:a16="http://schemas.microsoft.com/office/drawing/2014/main" id="{C1715F42-B008-452E-8612-9EFB6C207034}"/>
                </a:ext>
              </a:extLst>
            </p:cNvPr>
            <p:cNvSpPr/>
            <p:nvPr/>
          </p:nvSpPr>
          <p:spPr>
            <a:xfrm>
              <a:off x="8037990" y="3320705"/>
              <a:ext cx="756084" cy="756084"/>
            </a:xfrm>
            <a:prstGeom prst="rect">
              <a:avLst/>
            </a:prstGeom>
            <a:solidFill>
              <a:srgbClr val="28863A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 rtl="0"/>
              <a:r>
                <a:rPr lang="fr-FR" sz="3000" dirty="0" smtClean="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1</a:t>
              </a:r>
              <a:endParaRPr dirty="0"/>
            </a:p>
          </p:txBody>
        </p:sp>
        <p:sp>
          <p:nvSpPr>
            <p:cNvPr id="4" name="Google Shape;154;p2">
              <a:extLst>
                <a:ext uri="{FF2B5EF4-FFF2-40B4-BE49-F238E27FC236}">
                  <a16:creationId xmlns:a16="http://schemas.microsoft.com/office/drawing/2014/main" id="{B8E98C46-339A-29EB-0B52-B28F9097585C}"/>
                </a:ext>
              </a:extLst>
            </p:cNvPr>
            <p:cNvSpPr/>
            <p:nvPr/>
          </p:nvSpPr>
          <p:spPr>
            <a:xfrm rot="10800000" flipH="1">
              <a:off x="8975407" y="3311824"/>
              <a:ext cx="8910222" cy="75608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l" rtl="0"/>
              <a:endParaRPr sz="3000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" name="Google Shape;149;p2">
              <a:extLst>
                <a:ext uri="{FF2B5EF4-FFF2-40B4-BE49-F238E27FC236}">
                  <a16:creationId xmlns:a16="http://schemas.microsoft.com/office/drawing/2014/main" id="{AA7A4C55-6A4C-DEAB-8842-E304935E1287}"/>
                </a:ext>
              </a:extLst>
            </p:cNvPr>
            <p:cNvSpPr/>
            <p:nvPr/>
          </p:nvSpPr>
          <p:spPr>
            <a:xfrm>
              <a:off x="9041470" y="3423480"/>
              <a:ext cx="5899230" cy="5872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38" tIns="68550" rIns="137138" bIns="68550" anchor="t" anchorCtr="0">
              <a:spAutoFit/>
            </a:bodyPr>
            <a:lstStyle/>
            <a:p>
              <a:pPr>
                <a:lnSpc>
                  <a:spcPts val="3479"/>
                </a:lnSpc>
              </a:pPr>
              <a:r>
                <a:rPr lang="en-US" sz="2400" b="1" i="1" dirty="0" err="1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T Firs Neue Bold"/>
                </a:rPr>
                <a:t>Contexte</a:t>
              </a:r>
              <a:r>
                <a:rPr lang="en-US" sz="2400" b="1" i="1" dirty="0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T Firs Neue Bold"/>
                </a:rPr>
                <a:t> et </a:t>
              </a:r>
              <a:r>
                <a:rPr lang="en-US" sz="2400" b="1" i="1" dirty="0" err="1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T Firs Neue Bold"/>
                </a:rPr>
                <a:t>Problématique</a:t>
              </a:r>
              <a:endParaRPr lang="en-US" sz="24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T Firs Neue Bold"/>
              </a:endParaRPr>
            </a:p>
          </p:txBody>
        </p:sp>
      </p:grpSp>
      <p:cxnSp>
        <p:nvCxnSpPr>
          <p:cNvPr id="57" name="Connecteur droit 60">
            <a:extLst>
              <a:ext uri="{FF2B5EF4-FFF2-40B4-BE49-F238E27FC236}">
                <a16:creationId xmlns:a16="http://schemas.microsoft.com/office/drawing/2014/main" id="{02DE3E8A-77EE-BAA3-13AE-B9CB017E1501}"/>
              </a:ext>
            </a:extLst>
          </p:cNvPr>
          <p:cNvCxnSpPr/>
          <p:nvPr/>
        </p:nvCxnSpPr>
        <p:spPr>
          <a:xfrm flipV="1">
            <a:off x="2375777" y="9795253"/>
            <a:ext cx="5940000" cy="2"/>
          </a:xfrm>
          <a:prstGeom prst="line">
            <a:avLst/>
          </a:prstGeom>
          <a:noFill/>
          <a:ln w="38100" cap="flat" cmpd="sng" algn="ctr">
            <a:solidFill>
              <a:srgbClr val="008000"/>
            </a:solidFill>
            <a:prstDash val="solid"/>
            <a:miter lim="800000"/>
          </a:ln>
          <a:effectLst/>
        </p:spPr>
      </p:cxnSp>
      <p:cxnSp>
        <p:nvCxnSpPr>
          <p:cNvPr id="58" name="Connecteur droit 62">
            <a:extLst>
              <a:ext uri="{FF2B5EF4-FFF2-40B4-BE49-F238E27FC236}">
                <a16:creationId xmlns:a16="http://schemas.microsoft.com/office/drawing/2014/main" id="{FB06B577-9FEA-68FF-4D15-096155F3AC6F}"/>
              </a:ext>
            </a:extLst>
          </p:cNvPr>
          <p:cNvCxnSpPr/>
          <p:nvPr/>
        </p:nvCxnSpPr>
        <p:spPr>
          <a:xfrm>
            <a:off x="9904566" y="9795252"/>
            <a:ext cx="5940000" cy="0"/>
          </a:xfrm>
          <a:prstGeom prst="line">
            <a:avLst/>
          </a:prstGeom>
          <a:noFill/>
          <a:ln w="38100" cap="flat" cmpd="sng" algn="ctr">
            <a:solidFill>
              <a:srgbClr val="008000"/>
            </a:solidFill>
            <a:prstDash val="solid"/>
            <a:miter lim="800000"/>
          </a:ln>
          <a:effectLst/>
        </p:spPr>
      </p:cxnSp>
      <p:sp>
        <p:nvSpPr>
          <p:cNvPr id="61" name="object 3"/>
          <p:cNvSpPr/>
          <p:nvPr/>
        </p:nvSpPr>
        <p:spPr>
          <a:xfrm>
            <a:off x="18080715" y="0"/>
            <a:ext cx="223327" cy="10287000"/>
          </a:xfrm>
          <a:custGeom>
            <a:avLst/>
            <a:gdLst/>
            <a:ahLst/>
            <a:cxnLst/>
            <a:rect l="l" t="t" r="r" b="b"/>
            <a:pathLst>
              <a:path w="2285365" h="10287000">
                <a:moveTo>
                  <a:pt x="0" y="0"/>
                </a:moveTo>
                <a:lnTo>
                  <a:pt x="2284814" y="0"/>
                </a:lnTo>
                <a:lnTo>
                  <a:pt x="2284814" y="10286993"/>
                </a:lnTo>
                <a:lnTo>
                  <a:pt x="0" y="1028699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3"/>
          <p:cNvSpPr/>
          <p:nvPr/>
        </p:nvSpPr>
        <p:spPr>
          <a:xfrm>
            <a:off x="0" y="0"/>
            <a:ext cx="223327" cy="10287000"/>
          </a:xfrm>
          <a:custGeom>
            <a:avLst/>
            <a:gdLst/>
            <a:ahLst/>
            <a:cxnLst/>
            <a:rect l="l" t="t" r="r" b="b"/>
            <a:pathLst>
              <a:path w="2285365" h="10287000">
                <a:moveTo>
                  <a:pt x="0" y="0"/>
                </a:moveTo>
                <a:lnTo>
                  <a:pt x="2284814" y="0"/>
                </a:lnTo>
                <a:lnTo>
                  <a:pt x="2284814" y="10286993"/>
                </a:lnTo>
                <a:lnTo>
                  <a:pt x="0" y="1028699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Freeform 9"/>
          <p:cNvSpPr/>
          <p:nvPr/>
        </p:nvSpPr>
        <p:spPr>
          <a:xfrm>
            <a:off x="260384" y="8843595"/>
            <a:ext cx="1994637" cy="1552943"/>
          </a:xfrm>
          <a:custGeom>
            <a:avLst/>
            <a:gdLst/>
            <a:ahLst/>
            <a:cxnLst/>
            <a:rect l="l" t="t" r="r" b="b"/>
            <a:pathLst>
              <a:path w="6652984" h="2261638">
                <a:moveTo>
                  <a:pt x="0" y="0"/>
                </a:moveTo>
                <a:lnTo>
                  <a:pt x="6652985" y="0"/>
                </a:lnTo>
                <a:lnTo>
                  <a:pt x="6652985" y="2261638"/>
                </a:lnTo>
                <a:lnTo>
                  <a:pt x="0" y="226163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63" name="Freeform 10"/>
          <p:cNvSpPr/>
          <p:nvPr/>
        </p:nvSpPr>
        <p:spPr>
          <a:xfrm>
            <a:off x="16344681" y="8572500"/>
            <a:ext cx="1632403" cy="1583905"/>
          </a:xfrm>
          <a:custGeom>
            <a:avLst/>
            <a:gdLst/>
            <a:ahLst/>
            <a:cxnLst/>
            <a:rect l="l" t="t" r="r" b="b"/>
            <a:pathLst>
              <a:path w="2346892" h="2901466">
                <a:moveTo>
                  <a:pt x="0" y="0"/>
                </a:moveTo>
                <a:lnTo>
                  <a:pt x="2346892" y="0"/>
                </a:lnTo>
                <a:lnTo>
                  <a:pt x="2346892" y="2901466"/>
                </a:lnTo>
                <a:lnTo>
                  <a:pt x="0" y="29014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63547670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676400" y="4134008"/>
            <a:ext cx="6966756" cy="550529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9454628" y="4134008"/>
            <a:ext cx="6966756" cy="54470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grpSp>
        <p:nvGrpSpPr>
          <p:cNvPr id="25" name="Groupe 24"/>
          <p:cNvGrpSpPr/>
          <p:nvPr/>
        </p:nvGrpSpPr>
        <p:grpSpPr>
          <a:xfrm>
            <a:off x="1676400" y="1028700"/>
            <a:ext cx="14744984" cy="8610600"/>
            <a:chOff x="1676400" y="1028700"/>
            <a:chExt cx="14744984" cy="8610600"/>
          </a:xfrm>
        </p:grpSpPr>
        <p:sp>
          <p:nvSpPr>
            <p:cNvPr id="6" name="Freeform 6"/>
            <p:cNvSpPr/>
            <p:nvPr/>
          </p:nvSpPr>
          <p:spPr>
            <a:xfrm>
              <a:off x="1676400" y="4410247"/>
              <a:ext cx="6966756" cy="5229053"/>
            </a:xfrm>
            <a:custGeom>
              <a:avLst/>
              <a:gdLst/>
              <a:ahLst/>
              <a:cxnLst/>
              <a:rect l="l" t="t" r="r" b="b"/>
              <a:pathLst>
                <a:path w="1201102" h="901514">
                  <a:moveTo>
                    <a:pt x="56675" y="0"/>
                  </a:moveTo>
                  <a:lnTo>
                    <a:pt x="1144428" y="0"/>
                  </a:lnTo>
                  <a:cubicBezTo>
                    <a:pt x="1175728" y="0"/>
                    <a:pt x="1201102" y="25374"/>
                    <a:pt x="1201102" y="56675"/>
                  </a:cubicBezTo>
                  <a:lnTo>
                    <a:pt x="1201102" y="844839"/>
                  </a:lnTo>
                  <a:cubicBezTo>
                    <a:pt x="1201102" y="876140"/>
                    <a:pt x="1175728" y="901514"/>
                    <a:pt x="1144428" y="901514"/>
                  </a:cubicBezTo>
                  <a:lnTo>
                    <a:pt x="56675" y="901514"/>
                  </a:lnTo>
                  <a:cubicBezTo>
                    <a:pt x="25374" y="901514"/>
                    <a:pt x="0" y="876140"/>
                    <a:pt x="0" y="844839"/>
                  </a:cubicBezTo>
                  <a:lnTo>
                    <a:pt x="0" y="56675"/>
                  </a:lnTo>
                  <a:cubicBezTo>
                    <a:pt x="0" y="25374"/>
                    <a:pt x="25374" y="0"/>
                    <a:pt x="56675" y="0"/>
                  </a:cubicBezTo>
                  <a:close/>
                </a:path>
              </a:pathLst>
            </a:custGeom>
            <a:solidFill>
              <a:srgbClr val="696F70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9454628" y="4410247"/>
              <a:ext cx="6966756" cy="5170849"/>
            </a:xfrm>
            <a:custGeom>
              <a:avLst/>
              <a:gdLst/>
              <a:ahLst/>
              <a:cxnLst/>
              <a:rect l="l" t="t" r="r" b="b"/>
              <a:pathLst>
                <a:path w="1201102" h="891479">
                  <a:moveTo>
                    <a:pt x="56675" y="0"/>
                  </a:moveTo>
                  <a:lnTo>
                    <a:pt x="1144428" y="0"/>
                  </a:lnTo>
                  <a:cubicBezTo>
                    <a:pt x="1175728" y="0"/>
                    <a:pt x="1201102" y="25374"/>
                    <a:pt x="1201102" y="56675"/>
                  </a:cubicBezTo>
                  <a:lnTo>
                    <a:pt x="1201102" y="834805"/>
                  </a:lnTo>
                  <a:cubicBezTo>
                    <a:pt x="1201102" y="866105"/>
                    <a:pt x="1175728" y="891479"/>
                    <a:pt x="1144428" y="891479"/>
                  </a:cubicBezTo>
                  <a:lnTo>
                    <a:pt x="56675" y="891479"/>
                  </a:lnTo>
                  <a:cubicBezTo>
                    <a:pt x="25374" y="891479"/>
                    <a:pt x="0" y="866105"/>
                    <a:pt x="0" y="834805"/>
                  </a:cubicBezTo>
                  <a:lnTo>
                    <a:pt x="0" y="56675"/>
                  </a:lnTo>
                  <a:cubicBezTo>
                    <a:pt x="0" y="25374"/>
                    <a:pt x="25374" y="0"/>
                    <a:pt x="56675" y="0"/>
                  </a:cubicBezTo>
                  <a:close/>
                </a:path>
              </a:pathLst>
            </a:custGeom>
            <a:solidFill>
              <a:srgbClr val="696F70"/>
            </a:solidFill>
          </p:spPr>
        </p:sp>
        <p:grpSp>
          <p:nvGrpSpPr>
            <p:cNvPr id="2" name="Group 2"/>
            <p:cNvGrpSpPr/>
            <p:nvPr/>
          </p:nvGrpSpPr>
          <p:grpSpPr>
            <a:xfrm>
              <a:off x="2595883" y="1028700"/>
              <a:ext cx="13077629" cy="2385583"/>
              <a:chOff x="0" y="0"/>
              <a:chExt cx="3444314" cy="628302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0" y="0"/>
                <a:ext cx="3444314" cy="628302"/>
              </a:xfrm>
              <a:custGeom>
                <a:avLst/>
                <a:gdLst/>
                <a:ahLst/>
                <a:cxnLst/>
                <a:rect l="l" t="t" r="r" b="b"/>
                <a:pathLst>
                  <a:path w="3444314" h="628302">
                    <a:moveTo>
                      <a:pt x="30192" y="0"/>
                    </a:moveTo>
                    <a:lnTo>
                      <a:pt x="3414122" y="0"/>
                    </a:lnTo>
                    <a:cubicBezTo>
                      <a:pt x="3422129" y="0"/>
                      <a:pt x="3429809" y="3181"/>
                      <a:pt x="3435471" y="8843"/>
                    </a:cubicBezTo>
                    <a:cubicBezTo>
                      <a:pt x="3441133" y="14505"/>
                      <a:pt x="3444314" y="22184"/>
                      <a:pt x="3444314" y="30192"/>
                    </a:cubicBezTo>
                    <a:lnTo>
                      <a:pt x="3444314" y="598110"/>
                    </a:lnTo>
                    <a:cubicBezTo>
                      <a:pt x="3444314" y="606117"/>
                      <a:pt x="3441133" y="613797"/>
                      <a:pt x="3435471" y="619459"/>
                    </a:cubicBezTo>
                    <a:cubicBezTo>
                      <a:pt x="3429809" y="625121"/>
                      <a:pt x="3422129" y="628302"/>
                      <a:pt x="3414122" y="628302"/>
                    </a:cubicBezTo>
                    <a:lnTo>
                      <a:pt x="30192" y="628302"/>
                    </a:lnTo>
                    <a:cubicBezTo>
                      <a:pt x="22184" y="628302"/>
                      <a:pt x="14505" y="625121"/>
                      <a:pt x="8843" y="619459"/>
                    </a:cubicBezTo>
                    <a:cubicBezTo>
                      <a:pt x="3181" y="613797"/>
                      <a:pt x="0" y="606117"/>
                      <a:pt x="0" y="598110"/>
                    </a:cubicBezTo>
                    <a:lnTo>
                      <a:pt x="0" y="30192"/>
                    </a:lnTo>
                    <a:cubicBezTo>
                      <a:pt x="0" y="22184"/>
                      <a:pt x="3181" y="14505"/>
                      <a:pt x="8843" y="8843"/>
                    </a:cubicBezTo>
                    <a:cubicBezTo>
                      <a:pt x="14505" y="3181"/>
                      <a:pt x="22184" y="0"/>
                      <a:pt x="30192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0" cap="rnd">
                <a:solidFill>
                  <a:srgbClr val="17313E"/>
                </a:solidFill>
                <a:prstDash val="solid"/>
                <a:round/>
              </a:ln>
            </p:spPr>
          </p:sp>
          <p:sp>
            <p:nvSpPr>
              <p:cNvPr id="4" name="TextBox 4"/>
              <p:cNvSpPr txBox="1"/>
              <p:nvPr/>
            </p:nvSpPr>
            <p:spPr>
              <a:xfrm>
                <a:off x="0" y="-47625"/>
                <a:ext cx="3444314" cy="6759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3220819" y="3896706"/>
              <a:ext cx="3802041" cy="1124640"/>
              <a:chOff x="0" y="0"/>
              <a:chExt cx="655490" cy="19389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55490" cy="193893"/>
              </a:xfrm>
              <a:custGeom>
                <a:avLst/>
                <a:gdLst/>
                <a:ahLst/>
                <a:cxnLst/>
                <a:rect l="l" t="t" r="r" b="b"/>
                <a:pathLst>
                  <a:path w="655490" h="193893">
                    <a:moveTo>
                      <a:pt x="96947" y="0"/>
                    </a:moveTo>
                    <a:lnTo>
                      <a:pt x="558543" y="0"/>
                    </a:lnTo>
                    <a:cubicBezTo>
                      <a:pt x="584255" y="0"/>
                      <a:pt x="608914" y="10214"/>
                      <a:pt x="627095" y="28395"/>
                    </a:cubicBezTo>
                    <a:cubicBezTo>
                      <a:pt x="645276" y="46576"/>
                      <a:pt x="655490" y="71235"/>
                      <a:pt x="655490" y="96947"/>
                    </a:cubicBezTo>
                    <a:lnTo>
                      <a:pt x="655490" y="96947"/>
                    </a:lnTo>
                    <a:cubicBezTo>
                      <a:pt x="655490" y="150489"/>
                      <a:pt x="612086" y="193893"/>
                      <a:pt x="558543" y="193893"/>
                    </a:cubicBezTo>
                    <a:lnTo>
                      <a:pt x="96947" y="193893"/>
                    </a:lnTo>
                    <a:cubicBezTo>
                      <a:pt x="71235" y="193893"/>
                      <a:pt x="46576" y="183679"/>
                      <a:pt x="28395" y="165498"/>
                    </a:cubicBezTo>
                    <a:cubicBezTo>
                      <a:pt x="10214" y="147317"/>
                      <a:pt x="0" y="122658"/>
                      <a:pt x="0" y="96947"/>
                    </a:cubicBezTo>
                    <a:lnTo>
                      <a:pt x="0" y="96947"/>
                    </a:lnTo>
                    <a:cubicBezTo>
                      <a:pt x="0" y="71235"/>
                      <a:pt x="10214" y="46576"/>
                      <a:pt x="28395" y="28395"/>
                    </a:cubicBezTo>
                    <a:cubicBezTo>
                      <a:pt x="46576" y="10214"/>
                      <a:pt x="71235" y="0"/>
                      <a:pt x="96947" y="0"/>
                    </a:cubicBezTo>
                    <a:close/>
                  </a:path>
                </a:pathLst>
              </a:custGeom>
              <a:solidFill>
                <a:srgbClr val="CFCFCF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655490" cy="2415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2855935" y="1535056"/>
              <a:ext cx="12386075" cy="1068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00"/>
                </a:lnSpc>
              </a:pPr>
              <a:r>
                <a:rPr lang="en-US" sz="6800" spc="-374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Contexte et Problématique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26521" y="4945145"/>
              <a:ext cx="5929408" cy="4343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132"/>
                </a:lnSpc>
                <a:spcBef>
                  <a:spcPct val="0"/>
                </a:spcBef>
              </a:pPr>
              <a:r>
                <a:rPr lang="en-US" sz="1921" b="1" u="none" strike="noStrike">
                  <a:solidFill>
                    <a:srgbClr val="FFFFF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Dans le cadre de l’Industrie 4.0, la maintenance des trains à grande vitesse doit répondre à des exigences élevées de sécurité, de disponibilité et de réduction des coûts. Les méthodes d’inspection manuelles atteignent aujourd’hui leurs limites. Les avancées en systèmes cyber-physiques, intelligence artificielle et vision par ordinateur offrent désormais la possibilité d’automatiser, en temps réel, la détection et la localisation des défauts de surface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88220" y="4060490"/>
              <a:ext cx="6206009" cy="6233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32"/>
                </a:lnSpc>
                <a:spcBef>
                  <a:spcPct val="0"/>
                </a:spcBef>
              </a:pPr>
              <a:r>
                <a:rPr lang="en-US" sz="3666" b="1">
                  <a:solidFill>
                    <a:srgbClr val="1F2544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1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1111865" y="3789735"/>
              <a:ext cx="3652282" cy="1231610"/>
              <a:chOff x="0" y="0"/>
              <a:chExt cx="629671" cy="21233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29671" cy="212336"/>
              </a:xfrm>
              <a:custGeom>
                <a:avLst/>
                <a:gdLst/>
                <a:ahLst/>
                <a:cxnLst/>
                <a:rect l="l" t="t" r="r" b="b"/>
                <a:pathLst>
                  <a:path w="629671" h="212336">
                    <a:moveTo>
                      <a:pt x="106168" y="0"/>
                    </a:moveTo>
                    <a:lnTo>
                      <a:pt x="523503" y="0"/>
                    </a:lnTo>
                    <a:cubicBezTo>
                      <a:pt x="551661" y="0"/>
                      <a:pt x="578665" y="11185"/>
                      <a:pt x="598575" y="31096"/>
                    </a:cubicBezTo>
                    <a:cubicBezTo>
                      <a:pt x="618485" y="51006"/>
                      <a:pt x="629671" y="78010"/>
                      <a:pt x="629671" y="106168"/>
                    </a:cubicBezTo>
                    <a:lnTo>
                      <a:pt x="629671" y="106168"/>
                    </a:lnTo>
                    <a:cubicBezTo>
                      <a:pt x="629671" y="164803"/>
                      <a:pt x="582138" y="212336"/>
                      <a:pt x="523503" y="212336"/>
                    </a:cubicBezTo>
                    <a:lnTo>
                      <a:pt x="106168" y="212336"/>
                    </a:lnTo>
                    <a:cubicBezTo>
                      <a:pt x="78010" y="212336"/>
                      <a:pt x="51006" y="201150"/>
                      <a:pt x="31096" y="181240"/>
                    </a:cubicBezTo>
                    <a:cubicBezTo>
                      <a:pt x="11185" y="161329"/>
                      <a:pt x="0" y="134325"/>
                      <a:pt x="0" y="106168"/>
                    </a:cubicBezTo>
                    <a:lnTo>
                      <a:pt x="0" y="106168"/>
                    </a:lnTo>
                    <a:cubicBezTo>
                      <a:pt x="0" y="78010"/>
                      <a:pt x="11185" y="51006"/>
                      <a:pt x="31096" y="31096"/>
                    </a:cubicBezTo>
                    <a:cubicBezTo>
                      <a:pt x="51006" y="11185"/>
                      <a:pt x="78010" y="0"/>
                      <a:pt x="106168" y="0"/>
                    </a:cubicBezTo>
                    <a:close/>
                  </a:path>
                </a:pathLst>
              </a:custGeom>
              <a:solidFill>
                <a:srgbClr val="CFCFCF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47625"/>
                <a:ext cx="629671" cy="2599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9632311" y="4060490"/>
              <a:ext cx="6206009" cy="6315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32"/>
                </a:lnSpc>
                <a:spcBef>
                  <a:spcPct val="0"/>
                </a:spcBef>
              </a:pPr>
              <a:r>
                <a:rPr lang="en-US" sz="3666" b="1" dirty="0" err="1" smtClean="0">
                  <a:solidFill>
                    <a:srgbClr val="1F2544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objectif</a:t>
              </a:r>
              <a:endParaRPr lang="en-US" sz="3666" b="1" dirty="0">
                <a:solidFill>
                  <a:srgbClr val="1F2544"/>
                </a:solidFill>
                <a:latin typeface="TT Firs Neue Bold"/>
                <a:ea typeface="TT Firs Neue Bold"/>
                <a:cs typeface="TT Firs Neue Bold"/>
                <a:sym typeface="TT Firs Neue Bold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632311" y="5321214"/>
              <a:ext cx="6616288" cy="2151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52"/>
                </a:lnSpc>
              </a:pPr>
              <a:r>
                <a:rPr lang="en-US" sz="2118" b="1">
                  <a:solidFill>
                    <a:srgbClr val="FFFFF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Développer un système intelligent et autonome capable de détecter et localiser en temps réel les défauts de surface et de optimiser la maintenance prédictive des trains à grande vitesse.</a:t>
              </a:r>
            </a:p>
          </p:txBody>
        </p:sp>
      </p:grpSp>
      <p:sp>
        <p:nvSpPr>
          <p:cNvPr id="22" name="Oval 10">
            <a:extLst>
              <a:ext uri="{FF2B5EF4-FFF2-40B4-BE49-F238E27FC236}">
                <a16:creationId xmlns:a16="http://schemas.microsoft.com/office/drawing/2014/main" id="{B0DD07D6-144F-01B6-B86A-431AC74ACED7}"/>
              </a:ext>
            </a:extLst>
          </p:cNvPr>
          <p:cNvSpPr/>
          <p:nvPr/>
        </p:nvSpPr>
        <p:spPr>
          <a:xfrm rot="164763">
            <a:off x="16415027" y="320498"/>
            <a:ext cx="1095753" cy="8028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/>
              <a:t>1</a:t>
            </a:r>
            <a:endParaRPr lang="fr-FR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/>
          <p:cNvGrpSpPr/>
          <p:nvPr/>
        </p:nvGrpSpPr>
        <p:grpSpPr>
          <a:xfrm>
            <a:off x="857547" y="471917"/>
            <a:ext cx="17430453" cy="8171213"/>
            <a:chOff x="857547" y="471917"/>
            <a:chExt cx="17430453" cy="8171213"/>
          </a:xfrm>
        </p:grpSpPr>
        <p:grpSp>
          <p:nvGrpSpPr>
            <p:cNvPr id="2" name="Group 2"/>
            <p:cNvGrpSpPr/>
            <p:nvPr/>
          </p:nvGrpSpPr>
          <p:grpSpPr>
            <a:xfrm>
              <a:off x="2595883" y="471917"/>
              <a:ext cx="13077629" cy="2385583"/>
              <a:chOff x="0" y="0"/>
              <a:chExt cx="3444314" cy="628302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0" y="0"/>
                <a:ext cx="3444314" cy="628302"/>
              </a:xfrm>
              <a:custGeom>
                <a:avLst/>
                <a:gdLst/>
                <a:ahLst/>
                <a:cxnLst/>
                <a:rect l="l" t="t" r="r" b="b"/>
                <a:pathLst>
                  <a:path w="3444314" h="628302">
                    <a:moveTo>
                      <a:pt x="30192" y="0"/>
                    </a:moveTo>
                    <a:lnTo>
                      <a:pt x="3414122" y="0"/>
                    </a:lnTo>
                    <a:cubicBezTo>
                      <a:pt x="3422129" y="0"/>
                      <a:pt x="3429809" y="3181"/>
                      <a:pt x="3435471" y="8843"/>
                    </a:cubicBezTo>
                    <a:cubicBezTo>
                      <a:pt x="3441133" y="14505"/>
                      <a:pt x="3444314" y="22184"/>
                      <a:pt x="3444314" y="30192"/>
                    </a:cubicBezTo>
                    <a:lnTo>
                      <a:pt x="3444314" y="598110"/>
                    </a:lnTo>
                    <a:cubicBezTo>
                      <a:pt x="3444314" y="606117"/>
                      <a:pt x="3441133" y="613797"/>
                      <a:pt x="3435471" y="619459"/>
                    </a:cubicBezTo>
                    <a:cubicBezTo>
                      <a:pt x="3429809" y="625121"/>
                      <a:pt x="3422129" y="628302"/>
                      <a:pt x="3414122" y="628302"/>
                    </a:cubicBezTo>
                    <a:lnTo>
                      <a:pt x="30192" y="628302"/>
                    </a:lnTo>
                    <a:cubicBezTo>
                      <a:pt x="22184" y="628302"/>
                      <a:pt x="14505" y="625121"/>
                      <a:pt x="8843" y="619459"/>
                    </a:cubicBezTo>
                    <a:cubicBezTo>
                      <a:pt x="3181" y="613797"/>
                      <a:pt x="0" y="606117"/>
                      <a:pt x="0" y="598110"/>
                    </a:cubicBezTo>
                    <a:lnTo>
                      <a:pt x="0" y="30192"/>
                    </a:lnTo>
                    <a:cubicBezTo>
                      <a:pt x="0" y="22184"/>
                      <a:pt x="3181" y="14505"/>
                      <a:pt x="8843" y="8843"/>
                    </a:cubicBezTo>
                    <a:cubicBezTo>
                      <a:pt x="14505" y="3181"/>
                      <a:pt x="22184" y="0"/>
                      <a:pt x="30192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0" cap="rnd">
                <a:solidFill>
                  <a:srgbClr val="17313E"/>
                </a:solidFill>
                <a:prstDash val="solid"/>
                <a:round/>
              </a:ln>
            </p:spPr>
          </p:sp>
          <p:sp>
            <p:nvSpPr>
              <p:cNvPr id="4" name="TextBox 4"/>
              <p:cNvSpPr txBox="1"/>
              <p:nvPr/>
            </p:nvSpPr>
            <p:spPr>
              <a:xfrm>
                <a:off x="0" y="-47625"/>
                <a:ext cx="3444314" cy="6759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5" name="TextBox 5"/>
            <p:cNvSpPr txBox="1"/>
            <p:nvPr/>
          </p:nvSpPr>
          <p:spPr>
            <a:xfrm>
              <a:off x="2874985" y="663949"/>
              <a:ext cx="12386075" cy="1925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00"/>
                </a:lnSpc>
              </a:pPr>
              <a:r>
                <a:rPr lang="en-US" sz="6800" spc="-374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Revue de Littérature et État de l’Art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57547" y="3641761"/>
              <a:ext cx="17430453" cy="5001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 dirty="0">
                  <a:solidFill>
                    <a:srgbClr val="0B0A0A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Article </a:t>
              </a:r>
              <a:r>
                <a:rPr lang="en-US" sz="2799" b="1" dirty="0" smtClean="0">
                  <a:solidFill>
                    <a:srgbClr val="0B0A0A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1 </a:t>
              </a:r>
              <a:r>
                <a:rPr lang="en-US" sz="2799" b="1" dirty="0">
                  <a:solidFill>
                    <a:srgbClr val="0B0A0A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:</a:t>
              </a:r>
            </a:p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 dirty="0" err="1">
                  <a:solidFill>
                    <a:srgbClr val="0B0A0A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Titre</a:t>
              </a:r>
              <a:r>
                <a:rPr lang="en-US" sz="2799" b="1" dirty="0">
                  <a:solidFill>
                    <a:srgbClr val="0B0A0A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 : A Study on Railway Surface Defects Detection Based on Machine Vision</a:t>
              </a:r>
            </a:p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 dirty="0">
                  <a:solidFill>
                    <a:srgbClr val="0B0A0A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Auteurs : </a:t>
              </a:r>
              <a:r>
                <a:rPr lang="en-US" sz="2799" b="1" dirty="0" err="1">
                  <a:solidFill>
                    <a:srgbClr val="0B0A0A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Tangbo</a:t>
              </a:r>
              <a:r>
                <a:rPr lang="en-US" sz="2799" b="1" dirty="0">
                  <a:solidFill>
                    <a:srgbClr val="0B0A0A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 Bai.</a:t>
              </a:r>
            </a:p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 dirty="0">
                  <a:solidFill>
                    <a:srgbClr val="0B0A0A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Ce </a:t>
              </a:r>
              <a:r>
                <a:rPr lang="en-US" sz="2799" b="1" dirty="0" err="1">
                  <a:solidFill>
                    <a:srgbClr val="0B0A0A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qu’il</a:t>
              </a:r>
              <a:r>
                <a:rPr lang="en-US" sz="2799" b="1" dirty="0">
                  <a:solidFill>
                    <a:srgbClr val="0B0A0A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 </a:t>
              </a:r>
              <a:r>
                <a:rPr lang="en-US" sz="2799" b="1" dirty="0" err="1">
                  <a:solidFill>
                    <a:srgbClr val="0B0A0A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dit</a:t>
              </a:r>
              <a:r>
                <a:rPr lang="en-US" sz="2799" b="1" dirty="0">
                  <a:solidFill>
                    <a:srgbClr val="0B0A0A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 :</a:t>
              </a:r>
            </a:p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Propose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une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version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améliorée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de YOLOv4 avec MobileNetV3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comme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backbone et convolution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séparable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en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profondeur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pour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alléger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le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réseau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.</a:t>
              </a:r>
            </a:p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Réduit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de 78,04% le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nombre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de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paramètres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et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augmente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la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vitesse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de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détection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(44,64 FPS).</a:t>
              </a:r>
            </a:p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Teste la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robustesse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en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ajoutant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du bruit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gaussien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aux images.</a:t>
              </a:r>
            </a:p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Montre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que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l’approche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légère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est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adaptée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à la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détection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embarquée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en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temps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réel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, avec un bon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compromis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précision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/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vitesse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.</a:t>
              </a:r>
            </a:p>
          </p:txBody>
        </p:sp>
      </p:grpSp>
      <p:sp>
        <p:nvSpPr>
          <p:cNvPr id="7" name="Oval 10">
            <a:extLst>
              <a:ext uri="{FF2B5EF4-FFF2-40B4-BE49-F238E27FC236}">
                <a16:creationId xmlns:a16="http://schemas.microsoft.com/office/drawing/2014/main" id="{B0DD07D6-144F-01B6-B86A-431AC74ACED7}"/>
              </a:ext>
            </a:extLst>
          </p:cNvPr>
          <p:cNvSpPr/>
          <p:nvPr/>
        </p:nvSpPr>
        <p:spPr>
          <a:xfrm rot="164763">
            <a:off x="16415027" y="320498"/>
            <a:ext cx="1095753" cy="8028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/>
              <a:t>2</a:t>
            </a:r>
            <a:endParaRPr lang="fr-FR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/>
          <p:cNvGrpSpPr/>
          <p:nvPr/>
        </p:nvGrpSpPr>
        <p:grpSpPr>
          <a:xfrm>
            <a:off x="596806" y="395717"/>
            <a:ext cx="17687183" cy="9267713"/>
            <a:chOff x="596806" y="395717"/>
            <a:chExt cx="17687183" cy="9267713"/>
          </a:xfrm>
        </p:grpSpPr>
        <p:grpSp>
          <p:nvGrpSpPr>
            <p:cNvPr id="2" name="Group 2"/>
            <p:cNvGrpSpPr/>
            <p:nvPr/>
          </p:nvGrpSpPr>
          <p:grpSpPr>
            <a:xfrm>
              <a:off x="2595883" y="395717"/>
              <a:ext cx="13077629" cy="2385583"/>
              <a:chOff x="0" y="0"/>
              <a:chExt cx="3444314" cy="628302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0" y="0"/>
                <a:ext cx="3444314" cy="628302"/>
              </a:xfrm>
              <a:custGeom>
                <a:avLst/>
                <a:gdLst/>
                <a:ahLst/>
                <a:cxnLst/>
                <a:rect l="l" t="t" r="r" b="b"/>
                <a:pathLst>
                  <a:path w="3444314" h="628302">
                    <a:moveTo>
                      <a:pt x="30192" y="0"/>
                    </a:moveTo>
                    <a:lnTo>
                      <a:pt x="3414122" y="0"/>
                    </a:lnTo>
                    <a:cubicBezTo>
                      <a:pt x="3422129" y="0"/>
                      <a:pt x="3429809" y="3181"/>
                      <a:pt x="3435471" y="8843"/>
                    </a:cubicBezTo>
                    <a:cubicBezTo>
                      <a:pt x="3441133" y="14505"/>
                      <a:pt x="3444314" y="22184"/>
                      <a:pt x="3444314" y="30192"/>
                    </a:cubicBezTo>
                    <a:lnTo>
                      <a:pt x="3444314" y="598110"/>
                    </a:lnTo>
                    <a:cubicBezTo>
                      <a:pt x="3444314" y="606117"/>
                      <a:pt x="3441133" y="613797"/>
                      <a:pt x="3435471" y="619459"/>
                    </a:cubicBezTo>
                    <a:cubicBezTo>
                      <a:pt x="3429809" y="625121"/>
                      <a:pt x="3422129" y="628302"/>
                      <a:pt x="3414122" y="628302"/>
                    </a:cubicBezTo>
                    <a:lnTo>
                      <a:pt x="30192" y="628302"/>
                    </a:lnTo>
                    <a:cubicBezTo>
                      <a:pt x="22184" y="628302"/>
                      <a:pt x="14505" y="625121"/>
                      <a:pt x="8843" y="619459"/>
                    </a:cubicBezTo>
                    <a:cubicBezTo>
                      <a:pt x="3181" y="613797"/>
                      <a:pt x="0" y="606117"/>
                      <a:pt x="0" y="598110"/>
                    </a:cubicBezTo>
                    <a:lnTo>
                      <a:pt x="0" y="30192"/>
                    </a:lnTo>
                    <a:cubicBezTo>
                      <a:pt x="0" y="22184"/>
                      <a:pt x="3181" y="14505"/>
                      <a:pt x="8843" y="8843"/>
                    </a:cubicBezTo>
                    <a:cubicBezTo>
                      <a:pt x="14505" y="3181"/>
                      <a:pt x="22184" y="0"/>
                      <a:pt x="30192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0" cap="rnd">
                <a:solidFill>
                  <a:srgbClr val="17313E"/>
                </a:solidFill>
                <a:prstDash val="solid"/>
                <a:round/>
              </a:ln>
            </p:spPr>
          </p:sp>
          <p:sp>
            <p:nvSpPr>
              <p:cNvPr id="4" name="TextBox 4"/>
              <p:cNvSpPr txBox="1"/>
              <p:nvPr/>
            </p:nvSpPr>
            <p:spPr>
              <a:xfrm>
                <a:off x="0" y="-47625"/>
                <a:ext cx="3444314" cy="6759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5" name="TextBox 5"/>
            <p:cNvSpPr txBox="1"/>
            <p:nvPr/>
          </p:nvSpPr>
          <p:spPr>
            <a:xfrm>
              <a:off x="2855935" y="606799"/>
              <a:ext cx="12386075" cy="1925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00"/>
                </a:lnSpc>
              </a:pPr>
              <a:r>
                <a:rPr lang="en-US" sz="6800" spc="-374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Revue de Littérature et État de l’Art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6806" y="3238500"/>
              <a:ext cx="17687183" cy="6424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 dirty="0">
                  <a:solidFill>
                    <a:srgbClr val="0B0A0A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Article 2 :</a:t>
              </a:r>
            </a:p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 dirty="0" err="1">
                  <a:solidFill>
                    <a:srgbClr val="0B0A0A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Titre</a:t>
              </a:r>
              <a:r>
                <a:rPr lang="en-US" sz="2799" b="1" dirty="0">
                  <a:solidFill>
                    <a:srgbClr val="0B0A0A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 : Automated Identification and Localization of Rail Internal Defects Based on Object Detection Networks</a:t>
              </a:r>
            </a:p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 dirty="0">
                  <a:solidFill>
                    <a:srgbClr val="0B0A0A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Auteurs : </a:t>
              </a:r>
              <a:r>
                <a:rPr lang="en-US" sz="2799" b="1" dirty="0" err="1">
                  <a:solidFill>
                    <a:srgbClr val="0B0A0A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Sicheng</a:t>
              </a:r>
              <a:r>
                <a:rPr lang="en-US" sz="2799" b="1" dirty="0">
                  <a:solidFill>
                    <a:srgbClr val="0B0A0A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 Wang .</a:t>
              </a:r>
            </a:p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 dirty="0">
                  <a:solidFill>
                    <a:srgbClr val="0B0A0A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Ce </a:t>
              </a:r>
              <a:r>
                <a:rPr lang="en-US" sz="2799" b="1" dirty="0" err="1">
                  <a:solidFill>
                    <a:srgbClr val="0B0A0A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qu’il</a:t>
              </a:r>
              <a:r>
                <a:rPr lang="en-US" sz="2799" b="1" dirty="0">
                  <a:solidFill>
                    <a:srgbClr val="0B0A0A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 </a:t>
              </a:r>
              <a:r>
                <a:rPr lang="en-US" sz="2799" b="1" dirty="0" err="1">
                  <a:solidFill>
                    <a:srgbClr val="0B0A0A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dit</a:t>
              </a:r>
              <a:r>
                <a:rPr lang="en-US" sz="2799" b="1" dirty="0">
                  <a:solidFill>
                    <a:srgbClr val="0B0A0A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 :</a:t>
              </a:r>
            </a:p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Utilise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des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réseaux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de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détection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d’objets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(YOLOv8, YOLOv5, DETR, Faster R-CNN) pour identifier et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localiser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des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défauts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internes de rails à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partir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d’images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ultrasonores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B-scan.</a:t>
              </a:r>
            </a:p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YOLOv8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obtient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la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meilleure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performance :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mAP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de 93,3% et temps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d'inférence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58,9% plus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rapide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que YOLOv5.</a:t>
              </a:r>
            </a:p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Introduit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un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prétraitement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spécifique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(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débruitage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directionnel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, augmentation de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données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) pour les images B-scan.</a:t>
              </a:r>
            </a:p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Souligne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la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supériorité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des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méthodes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one-stage (YOLO) pour la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détection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en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temps </a:t>
              </a:r>
              <a:r>
                <a:rPr lang="en-US" sz="2799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réel</a:t>
              </a:r>
              <a:r>
                <a:rPr lang="en-US" sz="2799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par rapport aux two-stage (Faster R-CNN).</a:t>
              </a:r>
            </a:p>
          </p:txBody>
        </p:sp>
      </p:grpSp>
      <p:sp>
        <p:nvSpPr>
          <p:cNvPr id="7" name="Oval 10">
            <a:extLst>
              <a:ext uri="{FF2B5EF4-FFF2-40B4-BE49-F238E27FC236}">
                <a16:creationId xmlns:a16="http://schemas.microsoft.com/office/drawing/2014/main" id="{B0DD07D6-144F-01B6-B86A-431AC74ACED7}"/>
              </a:ext>
            </a:extLst>
          </p:cNvPr>
          <p:cNvSpPr/>
          <p:nvPr/>
        </p:nvSpPr>
        <p:spPr>
          <a:xfrm rot="164763">
            <a:off x="16415027" y="320498"/>
            <a:ext cx="1095753" cy="8028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/>
              <a:t>3</a:t>
            </a:r>
            <a:endParaRPr lang="fr-FR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/>
          <p:cNvGrpSpPr/>
          <p:nvPr/>
        </p:nvGrpSpPr>
        <p:grpSpPr>
          <a:xfrm>
            <a:off x="381000" y="571500"/>
            <a:ext cx="17907000" cy="9626411"/>
            <a:chOff x="381000" y="571500"/>
            <a:chExt cx="17907000" cy="9626411"/>
          </a:xfrm>
        </p:grpSpPr>
        <p:grpSp>
          <p:nvGrpSpPr>
            <p:cNvPr id="2" name="Group 2"/>
            <p:cNvGrpSpPr/>
            <p:nvPr/>
          </p:nvGrpSpPr>
          <p:grpSpPr>
            <a:xfrm>
              <a:off x="2595883" y="571500"/>
              <a:ext cx="13077629" cy="2385583"/>
              <a:chOff x="0" y="0"/>
              <a:chExt cx="3444314" cy="628302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0" y="0"/>
                <a:ext cx="3444314" cy="628302"/>
              </a:xfrm>
              <a:custGeom>
                <a:avLst/>
                <a:gdLst/>
                <a:ahLst/>
                <a:cxnLst/>
                <a:rect l="l" t="t" r="r" b="b"/>
                <a:pathLst>
                  <a:path w="3444314" h="628302">
                    <a:moveTo>
                      <a:pt x="30192" y="0"/>
                    </a:moveTo>
                    <a:lnTo>
                      <a:pt x="3414122" y="0"/>
                    </a:lnTo>
                    <a:cubicBezTo>
                      <a:pt x="3422129" y="0"/>
                      <a:pt x="3429809" y="3181"/>
                      <a:pt x="3435471" y="8843"/>
                    </a:cubicBezTo>
                    <a:cubicBezTo>
                      <a:pt x="3441133" y="14505"/>
                      <a:pt x="3444314" y="22184"/>
                      <a:pt x="3444314" y="30192"/>
                    </a:cubicBezTo>
                    <a:lnTo>
                      <a:pt x="3444314" y="598110"/>
                    </a:lnTo>
                    <a:cubicBezTo>
                      <a:pt x="3444314" y="606117"/>
                      <a:pt x="3441133" y="613797"/>
                      <a:pt x="3435471" y="619459"/>
                    </a:cubicBezTo>
                    <a:cubicBezTo>
                      <a:pt x="3429809" y="625121"/>
                      <a:pt x="3422129" y="628302"/>
                      <a:pt x="3414122" y="628302"/>
                    </a:cubicBezTo>
                    <a:lnTo>
                      <a:pt x="30192" y="628302"/>
                    </a:lnTo>
                    <a:cubicBezTo>
                      <a:pt x="22184" y="628302"/>
                      <a:pt x="14505" y="625121"/>
                      <a:pt x="8843" y="619459"/>
                    </a:cubicBezTo>
                    <a:cubicBezTo>
                      <a:pt x="3181" y="613797"/>
                      <a:pt x="0" y="606117"/>
                      <a:pt x="0" y="598110"/>
                    </a:cubicBezTo>
                    <a:lnTo>
                      <a:pt x="0" y="30192"/>
                    </a:lnTo>
                    <a:cubicBezTo>
                      <a:pt x="0" y="22184"/>
                      <a:pt x="3181" y="14505"/>
                      <a:pt x="8843" y="8843"/>
                    </a:cubicBezTo>
                    <a:cubicBezTo>
                      <a:pt x="14505" y="3181"/>
                      <a:pt x="22184" y="0"/>
                      <a:pt x="30192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0" cap="rnd">
                <a:solidFill>
                  <a:srgbClr val="17313E"/>
                </a:solidFill>
                <a:prstDash val="solid"/>
                <a:round/>
              </a:ln>
            </p:spPr>
          </p:sp>
          <p:sp>
            <p:nvSpPr>
              <p:cNvPr id="4" name="TextBox 4"/>
              <p:cNvSpPr txBox="1"/>
              <p:nvPr/>
            </p:nvSpPr>
            <p:spPr>
              <a:xfrm>
                <a:off x="0" y="-47625"/>
                <a:ext cx="3444314" cy="6759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5" name="Freeform 5"/>
            <p:cNvSpPr/>
            <p:nvPr/>
          </p:nvSpPr>
          <p:spPr>
            <a:xfrm>
              <a:off x="13292439" y="5332105"/>
              <a:ext cx="4995561" cy="4865806"/>
            </a:xfrm>
            <a:custGeom>
              <a:avLst/>
              <a:gdLst/>
              <a:ahLst/>
              <a:cxnLst/>
              <a:rect l="l" t="t" r="r" b="b"/>
              <a:pathLst>
                <a:path w="4995561" h="4865806">
                  <a:moveTo>
                    <a:pt x="0" y="0"/>
                  </a:moveTo>
                  <a:lnTo>
                    <a:pt x="4995561" y="0"/>
                  </a:lnTo>
                  <a:lnTo>
                    <a:pt x="4995561" y="4865806"/>
                  </a:lnTo>
                  <a:lnTo>
                    <a:pt x="0" y="4865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2855935" y="803163"/>
              <a:ext cx="12386075" cy="1925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00"/>
                </a:lnSpc>
              </a:pPr>
              <a:r>
                <a:rPr lang="en-US" sz="6800" spc="-374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Revue de </a:t>
              </a:r>
              <a:r>
                <a:rPr lang="en-US" sz="6800" spc="-374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Littérature</a:t>
              </a:r>
              <a:r>
                <a:rPr lang="en-US" sz="6800" spc="-374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et </a:t>
              </a:r>
              <a:r>
                <a:rPr lang="en-US" sz="6800" spc="-374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État</a:t>
              </a:r>
              <a:r>
                <a:rPr lang="en-US" sz="6800" spc="-374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de </a:t>
              </a:r>
              <a:r>
                <a:rPr lang="en-US" sz="6800" spc="-374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l’Art</a:t>
              </a:r>
              <a:endParaRPr lang="en-US" sz="6800" spc="-374" dirty="0">
                <a:solidFill>
                  <a:srgbClr val="0B0A0A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81000" y="3543300"/>
              <a:ext cx="15714912" cy="40043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000" b="1" dirty="0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Article 3</a:t>
              </a:r>
              <a:r>
                <a:rPr lang="en-US" sz="2000" b="1" dirty="0" smtClean="0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 </a:t>
              </a:r>
              <a:r>
                <a:rPr lang="en-US" sz="2000" b="1" dirty="0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:</a:t>
              </a:r>
            </a:p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000" b="1" dirty="0" err="1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Titre</a:t>
              </a:r>
              <a:r>
                <a:rPr lang="en-US" sz="2000" b="1" dirty="0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 : </a:t>
              </a:r>
              <a:r>
                <a:rPr lang="en-US" sz="2000" b="1" dirty="0" err="1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Défauts</a:t>
              </a:r>
              <a:r>
                <a:rPr lang="en-US" sz="2000" b="1" dirty="0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 </a:t>
              </a:r>
              <a:r>
                <a:rPr lang="en-US" sz="2000" b="1" dirty="0" err="1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ferroviaires</a:t>
              </a:r>
              <a:r>
                <a:rPr lang="en-US" sz="2000" b="1" dirty="0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 : </a:t>
              </a:r>
              <a:r>
                <a:rPr lang="en-US" sz="2000" b="1" dirty="0" err="1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vers</a:t>
              </a:r>
              <a:r>
                <a:rPr lang="en-US" sz="2000" b="1" dirty="0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 </a:t>
              </a:r>
              <a:r>
                <a:rPr lang="en-US" sz="2000" b="1" dirty="0" err="1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une</a:t>
              </a:r>
              <a:r>
                <a:rPr lang="en-US" sz="2000" b="1" dirty="0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 </a:t>
              </a:r>
              <a:r>
                <a:rPr lang="en-US" sz="2000" b="1" dirty="0" err="1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détection</a:t>
              </a:r>
              <a:r>
                <a:rPr lang="en-US" sz="2000" b="1" dirty="0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 </a:t>
              </a:r>
              <a:r>
                <a:rPr lang="en-US" sz="2000" b="1" dirty="0" err="1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visuelle</a:t>
              </a:r>
              <a:r>
                <a:rPr lang="en-US" sz="2000" b="1" dirty="0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 </a:t>
              </a:r>
              <a:r>
                <a:rPr lang="en-US" sz="2000" b="1" dirty="0" err="1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embarquée</a:t>
              </a:r>
              <a:endParaRPr lang="en-US" sz="2000" b="1" dirty="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endParaRPr>
            </a:p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000" b="1" dirty="0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Auteurs : </a:t>
              </a:r>
              <a:r>
                <a:rPr lang="en-US" sz="2000" b="1" dirty="0" err="1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Saša</a:t>
              </a:r>
              <a:r>
                <a:rPr lang="en-US" sz="2000" b="1" dirty="0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 </a:t>
              </a:r>
              <a:r>
                <a:rPr lang="en-US" sz="2000" b="1" dirty="0" err="1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Radosavljevic</a:t>
              </a:r>
              <a:r>
                <a:rPr lang="en-US" sz="2000" b="1" dirty="0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 .</a:t>
              </a:r>
            </a:p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000" b="1" dirty="0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Ce </a:t>
              </a:r>
              <a:r>
                <a:rPr lang="en-US" sz="2000" b="1" dirty="0" err="1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qu’il</a:t>
              </a:r>
              <a:r>
                <a:rPr lang="en-US" sz="2000" b="1" dirty="0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 </a:t>
              </a:r>
              <a:r>
                <a:rPr lang="en-US" sz="2000" b="1" dirty="0" err="1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dit</a:t>
              </a:r>
              <a:r>
                <a:rPr lang="en-US" sz="2000" b="1" dirty="0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 :</a:t>
              </a:r>
            </a:p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Propose un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système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de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détection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de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défauts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visuels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sur rails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basé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sur YOLOv8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déployé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sur des architectures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embarquées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(Jetson Xavier/Orin Nano).</a:t>
              </a:r>
            </a:p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Évalue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les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compromis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entre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précision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, temps de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traitement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et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contraintes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matérielles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en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temps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réel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(≥30 FPS à 160 km/h).</a:t>
              </a:r>
            </a:p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Montre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que la quantification FP16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réduit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le temps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d'inférence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de 40% avec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une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perte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de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précision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négligeable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.</a:t>
              </a:r>
            </a:p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Met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en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avant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l’intérêt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des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systèmes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embarqués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pour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une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inspection à la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volée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,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en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vue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d’une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maintenance </a:t>
              </a:r>
              <a:r>
                <a:rPr lang="en-US" sz="2000" dirty="0" err="1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prédictive</a:t>
              </a:r>
              <a:r>
                <a:rPr lang="en-US" sz="2000" dirty="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.</a:t>
              </a:r>
            </a:p>
          </p:txBody>
        </p:sp>
      </p:grpSp>
      <p:sp>
        <p:nvSpPr>
          <p:cNvPr id="8" name="Oval 10">
            <a:extLst>
              <a:ext uri="{FF2B5EF4-FFF2-40B4-BE49-F238E27FC236}">
                <a16:creationId xmlns:a16="http://schemas.microsoft.com/office/drawing/2014/main" id="{B0DD07D6-144F-01B6-B86A-431AC74ACED7}"/>
              </a:ext>
            </a:extLst>
          </p:cNvPr>
          <p:cNvSpPr/>
          <p:nvPr/>
        </p:nvSpPr>
        <p:spPr>
          <a:xfrm rot="164763">
            <a:off x="16415027" y="320498"/>
            <a:ext cx="1095753" cy="8028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/>
              <a:t>4</a:t>
            </a:r>
            <a:endParaRPr lang="fr-FR" sz="3600" b="1" dirty="0"/>
          </a:p>
        </p:txBody>
      </p:sp>
      <p:sp>
        <p:nvSpPr>
          <p:cNvPr id="9" name="Rectangle 8"/>
          <p:cNvSpPr/>
          <p:nvPr/>
        </p:nvSpPr>
        <p:spPr>
          <a:xfrm>
            <a:off x="10744200" y="9258300"/>
            <a:ext cx="24778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Submitted on 4 Jul 2025</a:t>
            </a:r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/>
          <p:cNvGrpSpPr/>
          <p:nvPr/>
        </p:nvGrpSpPr>
        <p:grpSpPr>
          <a:xfrm>
            <a:off x="1984071" y="340098"/>
            <a:ext cx="14993689" cy="6519616"/>
            <a:chOff x="1984071" y="340098"/>
            <a:chExt cx="14993689" cy="6519616"/>
          </a:xfrm>
        </p:grpSpPr>
        <p:grpSp>
          <p:nvGrpSpPr>
            <p:cNvPr id="2" name="Group 2"/>
            <p:cNvGrpSpPr/>
            <p:nvPr/>
          </p:nvGrpSpPr>
          <p:grpSpPr>
            <a:xfrm>
              <a:off x="2595883" y="340098"/>
              <a:ext cx="13077629" cy="2385583"/>
              <a:chOff x="0" y="0"/>
              <a:chExt cx="3444314" cy="628302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0" y="0"/>
                <a:ext cx="3444314" cy="628302"/>
              </a:xfrm>
              <a:custGeom>
                <a:avLst/>
                <a:gdLst/>
                <a:ahLst/>
                <a:cxnLst/>
                <a:rect l="l" t="t" r="r" b="b"/>
                <a:pathLst>
                  <a:path w="3444314" h="628302">
                    <a:moveTo>
                      <a:pt x="30192" y="0"/>
                    </a:moveTo>
                    <a:lnTo>
                      <a:pt x="3414122" y="0"/>
                    </a:lnTo>
                    <a:cubicBezTo>
                      <a:pt x="3422129" y="0"/>
                      <a:pt x="3429809" y="3181"/>
                      <a:pt x="3435471" y="8843"/>
                    </a:cubicBezTo>
                    <a:cubicBezTo>
                      <a:pt x="3441133" y="14505"/>
                      <a:pt x="3444314" y="22184"/>
                      <a:pt x="3444314" y="30192"/>
                    </a:cubicBezTo>
                    <a:lnTo>
                      <a:pt x="3444314" y="598110"/>
                    </a:lnTo>
                    <a:cubicBezTo>
                      <a:pt x="3444314" y="606117"/>
                      <a:pt x="3441133" y="613797"/>
                      <a:pt x="3435471" y="619459"/>
                    </a:cubicBezTo>
                    <a:cubicBezTo>
                      <a:pt x="3429809" y="625121"/>
                      <a:pt x="3422129" y="628302"/>
                      <a:pt x="3414122" y="628302"/>
                    </a:cubicBezTo>
                    <a:lnTo>
                      <a:pt x="30192" y="628302"/>
                    </a:lnTo>
                    <a:cubicBezTo>
                      <a:pt x="22184" y="628302"/>
                      <a:pt x="14505" y="625121"/>
                      <a:pt x="8843" y="619459"/>
                    </a:cubicBezTo>
                    <a:cubicBezTo>
                      <a:pt x="3181" y="613797"/>
                      <a:pt x="0" y="606117"/>
                      <a:pt x="0" y="598110"/>
                    </a:cubicBezTo>
                    <a:lnTo>
                      <a:pt x="0" y="30192"/>
                    </a:lnTo>
                    <a:cubicBezTo>
                      <a:pt x="0" y="22184"/>
                      <a:pt x="3181" y="14505"/>
                      <a:pt x="8843" y="8843"/>
                    </a:cubicBezTo>
                    <a:cubicBezTo>
                      <a:pt x="14505" y="3181"/>
                      <a:pt x="22184" y="0"/>
                      <a:pt x="30192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0" cap="rnd">
                <a:solidFill>
                  <a:srgbClr val="17313E"/>
                </a:solidFill>
                <a:prstDash val="solid"/>
                <a:round/>
              </a:ln>
            </p:spPr>
          </p:sp>
          <p:sp>
            <p:nvSpPr>
              <p:cNvPr id="4" name="TextBox 4"/>
              <p:cNvSpPr txBox="1"/>
              <p:nvPr/>
            </p:nvSpPr>
            <p:spPr>
              <a:xfrm>
                <a:off x="0" y="-47625"/>
                <a:ext cx="3444314" cy="6759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5" name="TextBox 5"/>
            <p:cNvSpPr txBox="1"/>
            <p:nvPr/>
          </p:nvSpPr>
          <p:spPr>
            <a:xfrm>
              <a:off x="2874985" y="532130"/>
              <a:ext cx="12386075" cy="2782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00"/>
                </a:lnSpc>
              </a:pPr>
              <a:r>
                <a:rPr lang="en-US" sz="6800" spc="-374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Limites</a:t>
              </a:r>
              <a:r>
                <a:rPr lang="en-US" sz="6800" spc="-374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des solutions </a:t>
              </a:r>
              <a:r>
                <a:rPr lang="en-US" sz="6800" spc="-374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existantes</a:t>
              </a:r>
              <a:endParaRPr lang="en-US" sz="6800" spc="-374" dirty="0">
                <a:solidFill>
                  <a:srgbClr val="0B0A0A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  <a:p>
              <a:pPr algn="ctr">
                <a:lnSpc>
                  <a:spcPts val="6800"/>
                </a:lnSpc>
              </a:pPr>
              <a:endParaRPr lang="en-US" sz="6800" spc="-374" dirty="0">
                <a:solidFill>
                  <a:srgbClr val="0B0A0A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984071" y="3160586"/>
              <a:ext cx="14993689" cy="36991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12473" lvl="1" indent="-356237" algn="l">
                <a:lnSpc>
                  <a:spcPts val="5808"/>
                </a:lnSpc>
                <a:buFont typeface="Arial"/>
                <a:buChar char="•"/>
              </a:pPr>
              <a:r>
                <a:rPr lang="en-US" sz="3300" spc="-181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Manque</a:t>
              </a:r>
              <a:r>
                <a:rPr lang="en-US" sz="3300" spc="-181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de </a:t>
              </a:r>
              <a:r>
                <a:rPr lang="en-US" sz="3300" spc="-181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robustesse</a:t>
              </a:r>
              <a:r>
                <a:rPr lang="en-US" sz="3300" spc="-181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</a:t>
              </a:r>
              <a:r>
                <a:rPr lang="en-US" sz="3300" spc="-181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environnementale</a:t>
              </a:r>
              <a:r>
                <a:rPr lang="en-US" sz="3300" spc="-181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(lumière, </a:t>
              </a:r>
              <a:r>
                <a:rPr lang="en-US" sz="3300" spc="-181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météo</a:t>
              </a:r>
              <a:r>
                <a:rPr lang="en-US" sz="3300" spc="-181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, vibrations).</a:t>
              </a:r>
            </a:p>
            <a:p>
              <a:pPr marL="712473" lvl="1" indent="-356237" algn="l">
                <a:lnSpc>
                  <a:spcPts val="5808"/>
                </a:lnSpc>
                <a:buFont typeface="Arial"/>
                <a:buChar char="•"/>
              </a:pPr>
              <a:r>
                <a:rPr lang="en-US" sz="3300" spc="-181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Besoins</a:t>
              </a:r>
              <a:r>
                <a:rPr lang="en-US" sz="3300" spc="-181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</a:t>
              </a:r>
              <a:r>
                <a:rPr lang="en-US" sz="3300" spc="-181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en</a:t>
              </a:r>
              <a:r>
                <a:rPr lang="en-US" sz="3300" spc="-181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</a:t>
              </a:r>
              <a:r>
                <a:rPr lang="en-US" sz="3300" spc="-181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données</a:t>
              </a:r>
              <a:r>
                <a:rPr lang="en-US" sz="3300" spc="-181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</a:t>
              </a:r>
              <a:r>
                <a:rPr lang="en-US" sz="3300" spc="-181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annotées</a:t>
              </a:r>
              <a:r>
                <a:rPr lang="en-US" sz="3300" spc="-181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</a:t>
              </a:r>
              <a:r>
                <a:rPr lang="en-US" sz="3300" spc="-181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importantes</a:t>
              </a:r>
              <a:r>
                <a:rPr lang="en-US" sz="3300" spc="-181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et </a:t>
              </a:r>
              <a:r>
                <a:rPr lang="en-US" sz="3300" spc="-181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équilibrées</a:t>
              </a:r>
              <a:r>
                <a:rPr lang="en-US" sz="3300" spc="-181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.</a:t>
              </a:r>
            </a:p>
            <a:p>
              <a:pPr marL="712473" lvl="1" indent="-356237" algn="l">
                <a:lnSpc>
                  <a:spcPts val="5808"/>
                </a:lnSpc>
                <a:buFont typeface="Arial"/>
                <a:buChar char="•"/>
              </a:pPr>
              <a:r>
                <a:rPr lang="en-US" sz="3300" spc="-181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Modèles</a:t>
              </a:r>
              <a:r>
                <a:rPr lang="en-US" sz="3300" spc="-181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</a:t>
              </a:r>
              <a:r>
                <a:rPr lang="en-US" sz="3300" spc="-181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lents</a:t>
              </a:r>
              <a:r>
                <a:rPr lang="en-US" sz="3300" spc="-181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</a:t>
              </a:r>
              <a:r>
                <a:rPr lang="en-US" sz="3300" spc="-181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ou</a:t>
              </a:r>
              <a:r>
                <a:rPr lang="en-US" sz="3300" spc="-181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</a:t>
              </a:r>
              <a:r>
                <a:rPr lang="en-US" sz="3300" spc="-181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lourds</a:t>
              </a:r>
              <a:r>
                <a:rPr lang="en-US" sz="3300" spc="-181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pour un </a:t>
              </a:r>
              <a:r>
                <a:rPr lang="en-US" sz="3300" spc="-181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déploiement</a:t>
              </a:r>
              <a:r>
                <a:rPr lang="en-US" sz="3300" spc="-181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</a:t>
              </a:r>
              <a:r>
                <a:rPr lang="en-US" sz="3300" spc="-181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embarqué</a:t>
              </a:r>
              <a:r>
                <a:rPr lang="en-US" sz="3300" spc="-181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temps </a:t>
              </a:r>
              <a:r>
                <a:rPr lang="en-US" sz="3300" spc="-181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réel</a:t>
              </a:r>
              <a:r>
                <a:rPr lang="en-US" sz="3300" spc="-181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.</a:t>
              </a:r>
            </a:p>
            <a:p>
              <a:pPr marL="712473" lvl="1" indent="-356237" algn="l">
                <a:lnSpc>
                  <a:spcPts val="5808"/>
                </a:lnSpc>
                <a:buFont typeface="Arial"/>
                <a:buChar char="•"/>
              </a:pPr>
              <a:r>
                <a:rPr lang="en-US" sz="3300" spc="-181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Faible</a:t>
              </a:r>
              <a:r>
                <a:rPr lang="en-US" sz="3300" spc="-181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</a:t>
              </a:r>
              <a:r>
                <a:rPr lang="en-US" sz="3300" spc="-181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généralisation</a:t>
              </a:r>
              <a:r>
                <a:rPr lang="en-US" sz="3300" spc="-181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entre </a:t>
              </a:r>
              <a:r>
                <a:rPr lang="en-US" sz="3300" spc="-181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différents</a:t>
              </a:r>
              <a:r>
                <a:rPr lang="en-US" sz="3300" spc="-181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</a:t>
              </a:r>
              <a:r>
                <a:rPr lang="en-US" sz="3300" spc="-181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réseaux</a:t>
              </a:r>
              <a:r>
                <a:rPr lang="en-US" sz="3300" spc="-181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</a:t>
              </a:r>
              <a:r>
                <a:rPr lang="en-US" sz="3300" spc="-181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ferroviaires</a:t>
              </a:r>
              <a:r>
                <a:rPr lang="en-US" sz="3300" spc="-181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.</a:t>
              </a:r>
            </a:p>
            <a:p>
              <a:pPr marL="712473" lvl="1" indent="-356237" algn="l">
                <a:lnSpc>
                  <a:spcPts val="5808"/>
                </a:lnSpc>
                <a:buFont typeface="Arial"/>
                <a:buChar char="•"/>
              </a:pPr>
              <a:r>
                <a:rPr lang="en-US" sz="3300" spc="-181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Difficulté</a:t>
              </a:r>
              <a:r>
                <a:rPr lang="en-US" sz="3300" spc="-181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à </a:t>
              </a:r>
              <a:r>
                <a:rPr lang="en-US" sz="3300" spc="-181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détecter</a:t>
              </a:r>
              <a:r>
                <a:rPr lang="en-US" sz="3300" spc="-181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les </a:t>
              </a:r>
              <a:r>
                <a:rPr lang="en-US" sz="3300" spc="-181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petits</a:t>
              </a:r>
              <a:r>
                <a:rPr lang="en-US" sz="3300" spc="-181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</a:t>
              </a:r>
              <a:r>
                <a:rPr lang="en-US" sz="3300" spc="-181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défauts</a:t>
              </a:r>
              <a:r>
                <a:rPr lang="en-US" sz="3300" spc="-181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et les </a:t>
              </a:r>
              <a:r>
                <a:rPr lang="en-US" sz="3300" spc="-181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défauts</a:t>
              </a:r>
              <a:r>
                <a:rPr lang="en-US" sz="3300" spc="-181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</a:t>
              </a:r>
              <a:r>
                <a:rPr lang="en-US" sz="3300" spc="-181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contextuels</a:t>
              </a:r>
              <a:r>
                <a:rPr lang="en-US" sz="3300" spc="-181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.</a:t>
              </a:r>
            </a:p>
          </p:txBody>
        </p:sp>
      </p:grpSp>
      <p:sp>
        <p:nvSpPr>
          <p:cNvPr id="7" name="Oval 10">
            <a:extLst>
              <a:ext uri="{FF2B5EF4-FFF2-40B4-BE49-F238E27FC236}">
                <a16:creationId xmlns:a16="http://schemas.microsoft.com/office/drawing/2014/main" id="{B0DD07D6-144F-01B6-B86A-431AC74ACED7}"/>
              </a:ext>
            </a:extLst>
          </p:cNvPr>
          <p:cNvSpPr/>
          <p:nvPr/>
        </p:nvSpPr>
        <p:spPr>
          <a:xfrm rot="164763">
            <a:off x="16415027" y="320498"/>
            <a:ext cx="1095753" cy="8028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/>
              <a:t>5</a:t>
            </a:r>
            <a:endParaRPr lang="fr-FR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/>
          <p:cNvGrpSpPr/>
          <p:nvPr/>
        </p:nvGrpSpPr>
        <p:grpSpPr>
          <a:xfrm>
            <a:off x="-16042" y="395717"/>
            <a:ext cx="18269395" cy="9375432"/>
            <a:chOff x="-16042" y="395717"/>
            <a:chExt cx="18269395" cy="9375432"/>
          </a:xfrm>
        </p:grpSpPr>
        <p:grpSp>
          <p:nvGrpSpPr>
            <p:cNvPr id="2" name="Group 2"/>
            <p:cNvGrpSpPr/>
            <p:nvPr/>
          </p:nvGrpSpPr>
          <p:grpSpPr>
            <a:xfrm>
              <a:off x="2595883" y="395717"/>
              <a:ext cx="13077629" cy="2385583"/>
              <a:chOff x="0" y="0"/>
              <a:chExt cx="3444314" cy="628302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0" y="0"/>
                <a:ext cx="3444314" cy="628302"/>
              </a:xfrm>
              <a:custGeom>
                <a:avLst/>
                <a:gdLst/>
                <a:ahLst/>
                <a:cxnLst/>
                <a:rect l="l" t="t" r="r" b="b"/>
                <a:pathLst>
                  <a:path w="3444314" h="628302">
                    <a:moveTo>
                      <a:pt x="30192" y="0"/>
                    </a:moveTo>
                    <a:lnTo>
                      <a:pt x="3414122" y="0"/>
                    </a:lnTo>
                    <a:cubicBezTo>
                      <a:pt x="3422129" y="0"/>
                      <a:pt x="3429809" y="3181"/>
                      <a:pt x="3435471" y="8843"/>
                    </a:cubicBezTo>
                    <a:cubicBezTo>
                      <a:pt x="3441133" y="14505"/>
                      <a:pt x="3444314" y="22184"/>
                      <a:pt x="3444314" y="30192"/>
                    </a:cubicBezTo>
                    <a:lnTo>
                      <a:pt x="3444314" y="598110"/>
                    </a:lnTo>
                    <a:cubicBezTo>
                      <a:pt x="3444314" y="606117"/>
                      <a:pt x="3441133" y="613797"/>
                      <a:pt x="3435471" y="619459"/>
                    </a:cubicBezTo>
                    <a:cubicBezTo>
                      <a:pt x="3429809" y="625121"/>
                      <a:pt x="3422129" y="628302"/>
                      <a:pt x="3414122" y="628302"/>
                    </a:cubicBezTo>
                    <a:lnTo>
                      <a:pt x="30192" y="628302"/>
                    </a:lnTo>
                    <a:cubicBezTo>
                      <a:pt x="22184" y="628302"/>
                      <a:pt x="14505" y="625121"/>
                      <a:pt x="8843" y="619459"/>
                    </a:cubicBezTo>
                    <a:cubicBezTo>
                      <a:pt x="3181" y="613797"/>
                      <a:pt x="0" y="606117"/>
                      <a:pt x="0" y="598110"/>
                    </a:cubicBezTo>
                    <a:lnTo>
                      <a:pt x="0" y="30192"/>
                    </a:lnTo>
                    <a:cubicBezTo>
                      <a:pt x="0" y="22184"/>
                      <a:pt x="3181" y="14505"/>
                      <a:pt x="8843" y="8843"/>
                    </a:cubicBezTo>
                    <a:cubicBezTo>
                      <a:pt x="14505" y="3181"/>
                      <a:pt x="22184" y="0"/>
                      <a:pt x="30192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0" cap="rnd">
                <a:solidFill>
                  <a:srgbClr val="17313E"/>
                </a:solidFill>
                <a:prstDash val="solid"/>
                <a:round/>
              </a:ln>
            </p:spPr>
          </p:sp>
          <p:sp>
            <p:nvSpPr>
              <p:cNvPr id="4" name="TextBox 4"/>
              <p:cNvSpPr txBox="1"/>
              <p:nvPr/>
            </p:nvSpPr>
            <p:spPr>
              <a:xfrm>
                <a:off x="0" y="-47625"/>
                <a:ext cx="3444314" cy="6759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5" name="Freeform 5"/>
            <p:cNvSpPr/>
            <p:nvPr/>
          </p:nvSpPr>
          <p:spPr>
            <a:xfrm>
              <a:off x="2619946" y="5295900"/>
              <a:ext cx="14018137" cy="4475249"/>
            </a:xfrm>
            <a:custGeom>
              <a:avLst/>
              <a:gdLst/>
              <a:ahLst/>
              <a:cxnLst/>
              <a:rect l="l" t="t" r="r" b="b"/>
              <a:pathLst>
                <a:path w="14018137" h="4475249">
                  <a:moveTo>
                    <a:pt x="0" y="0"/>
                  </a:moveTo>
                  <a:lnTo>
                    <a:pt x="14018137" y="0"/>
                  </a:lnTo>
                  <a:lnTo>
                    <a:pt x="14018137" y="4475249"/>
                  </a:lnTo>
                  <a:lnTo>
                    <a:pt x="0" y="4475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75" r="-27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2874985" y="892810"/>
              <a:ext cx="12386075" cy="1068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00"/>
                </a:lnSpc>
              </a:pPr>
              <a:r>
                <a:rPr lang="en-US" sz="6800" spc="-374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Positionnement et Questions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25692" y="4162425"/>
              <a:ext cx="9100136" cy="904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49"/>
                </a:lnSpc>
              </a:pPr>
              <a:r>
                <a:rPr lang="en-US" sz="2499" spc="-137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Al Boraq – Ligne à grande vitesse Tanger ↔ Casablanca</a:t>
              </a:r>
            </a:p>
            <a:p>
              <a:pPr algn="l">
                <a:lnSpc>
                  <a:spcPts val="3449"/>
                </a:lnSpc>
              </a:pPr>
              <a:r>
                <a:rPr lang="en-US" sz="2499" spc="-137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Vitesse commerciale maximale : V = 320 km/h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-16042" y="3581549"/>
              <a:ext cx="18269395" cy="7112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0"/>
                </a:lnSpc>
                <a:spcBef>
                  <a:spcPct val="0"/>
                </a:spcBef>
              </a:pPr>
              <a:r>
                <a:rPr lang="en-US" sz="2500" spc="-137" dirty="0" err="1">
                  <a:solidFill>
                    <a:srgbClr val="FF3131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Contrainte</a:t>
              </a:r>
              <a:r>
                <a:rPr lang="en-US" sz="2500" spc="-137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de </a:t>
              </a:r>
              <a:r>
                <a:rPr lang="en-US" sz="2500" spc="-137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vitesse</a:t>
              </a:r>
              <a:r>
                <a:rPr lang="en-US" sz="2500" spc="-137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de </a:t>
              </a:r>
              <a:r>
                <a:rPr lang="en-US" sz="2500" spc="-137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roulement</a:t>
              </a:r>
              <a:r>
                <a:rPr lang="en-US" sz="2500" spc="-137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pour le </a:t>
              </a:r>
              <a:r>
                <a:rPr lang="en-US" sz="2500" spc="-137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choix</a:t>
              </a:r>
              <a:r>
                <a:rPr lang="en-US" sz="2500" spc="-137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de la </a:t>
              </a:r>
              <a:r>
                <a:rPr lang="en-US" sz="2500" spc="-137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caméra</a:t>
              </a:r>
              <a:r>
                <a:rPr lang="en-US" sz="2500" spc="-137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: </a:t>
              </a:r>
              <a:r>
                <a:rPr lang="en-US" sz="2500" spc="-137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vitesses</a:t>
              </a:r>
              <a:r>
                <a:rPr lang="en-US" sz="2500" spc="-137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de </a:t>
              </a:r>
              <a:r>
                <a:rPr lang="en-US" sz="2500" spc="-137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roulement</a:t>
              </a:r>
              <a:r>
                <a:rPr lang="en-US" sz="2500" spc="-137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des trains à </a:t>
              </a:r>
              <a:r>
                <a:rPr lang="en-US" sz="2500" spc="-137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grande</a:t>
              </a:r>
              <a:r>
                <a:rPr lang="en-US" sz="2500" spc="-137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</a:t>
              </a:r>
              <a:r>
                <a:rPr lang="en-US" sz="2500" spc="-137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vitesse</a:t>
              </a:r>
              <a:r>
                <a:rPr lang="en-US" sz="2500" spc="-137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du </a:t>
              </a:r>
              <a:r>
                <a:rPr lang="en-US" sz="2500" spc="-137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Maroc</a:t>
              </a:r>
              <a:endParaRPr lang="en-US" sz="2500" spc="-137" dirty="0">
                <a:solidFill>
                  <a:srgbClr val="0B0A0A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</p:txBody>
        </p:sp>
      </p:grpSp>
      <p:sp>
        <p:nvSpPr>
          <p:cNvPr id="9" name="Oval 10">
            <a:extLst>
              <a:ext uri="{FF2B5EF4-FFF2-40B4-BE49-F238E27FC236}">
                <a16:creationId xmlns:a16="http://schemas.microsoft.com/office/drawing/2014/main" id="{B0DD07D6-144F-01B6-B86A-431AC74ACED7}"/>
              </a:ext>
            </a:extLst>
          </p:cNvPr>
          <p:cNvSpPr/>
          <p:nvPr/>
        </p:nvSpPr>
        <p:spPr>
          <a:xfrm rot="164763">
            <a:off x="16415027" y="320498"/>
            <a:ext cx="1095753" cy="8028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/>
              <a:t>6</a:t>
            </a:r>
            <a:endParaRPr lang="fr-FR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/>
          <p:cNvGrpSpPr/>
          <p:nvPr/>
        </p:nvGrpSpPr>
        <p:grpSpPr>
          <a:xfrm>
            <a:off x="362603" y="395717"/>
            <a:ext cx="17925397" cy="6032466"/>
            <a:chOff x="362603" y="395717"/>
            <a:chExt cx="17925397" cy="6032466"/>
          </a:xfrm>
        </p:grpSpPr>
        <p:grpSp>
          <p:nvGrpSpPr>
            <p:cNvPr id="2" name="Group 2"/>
            <p:cNvGrpSpPr/>
            <p:nvPr/>
          </p:nvGrpSpPr>
          <p:grpSpPr>
            <a:xfrm>
              <a:off x="2595883" y="395717"/>
              <a:ext cx="13077629" cy="2385583"/>
              <a:chOff x="0" y="0"/>
              <a:chExt cx="3444314" cy="628302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0" y="0"/>
                <a:ext cx="3444314" cy="628302"/>
              </a:xfrm>
              <a:custGeom>
                <a:avLst/>
                <a:gdLst/>
                <a:ahLst/>
                <a:cxnLst/>
                <a:rect l="l" t="t" r="r" b="b"/>
                <a:pathLst>
                  <a:path w="3444314" h="628302">
                    <a:moveTo>
                      <a:pt x="30192" y="0"/>
                    </a:moveTo>
                    <a:lnTo>
                      <a:pt x="3414122" y="0"/>
                    </a:lnTo>
                    <a:cubicBezTo>
                      <a:pt x="3422129" y="0"/>
                      <a:pt x="3429809" y="3181"/>
                      <a:pt x="3435471" y="8843"/>
                    </a:cubicBezTo>
                    <a:cubicBezTo>
                      <a:pt x="3441133" y="14505"/>
                      <a:pt x="3444314" y="22184"/>
                      <a:pt x="3444314" y="30192"/>
                    </a:cubicBezTo>
                    <a:lnTo>
                      <a:pt x="3444314" y="598110"/>
                    </a:lnTo>
                    <a:cubicBezTo>
                      <a:pt x="3444314" y="606117"/>
                      <a:pt x="3441133" y="613797"/>
                      <a:pt x="3435471" y="619459"/>
                    </a:cubicBezTo>
                    <a:cubicBezTo>
                      <a:pt x="3429809" y="625121"/>
                      <a:pt x="3422129" y="628302"/>
                      <a:pt x="3414122" y="628302"/>
                    </a:cubicBezTo>
                    <a:lnTo>
                      <a:pt x="30192" y="628302"/>
                    </a:lnTo>
                    <a:cubicBezTo>
                      <a:pt x="22184" y="628302"/>
                      <a:pt x="14505" y="625121"/>
                      <a:pt x="8843" y="619459"/>
                    </a:cubicBezTo>
                    <a:cubicBezTo>
                      <a:pt x="3181" y="613797"/>
                      <a:pt x="0" y="606117"/>
                      <a:pt x="0" y="598110"/>
                    </a:cubicBezTo>
                    <a:lnTo>
                      <a:pt x="0" y="30192"/>
                    </a:lnTo>
                    <a:cubicBezTo>
                      <a:pt x="0" y="22184"/>
                      <a:pt x="3181" y="14505"/>
                      <a:pt x="8843" y="8843"/>
                    </a:cubicBezTo>
                    <a:cubicBezTo>
                      <a:pt x="14505" y="3181"/>
                      <a:pt x="22184" y="0"/>
                      <a:pt x="30192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0" cap="rnd">
                <a:solidFill>
                  <a:srgbClr val="17313E"/>
                </a:solidFill>
                <a:prstDash val="solid"/>
                <a:round/>
              </a:ln>
            </p:spPr>
          </p:sp>
          <p:sp>
            <p:nvSpPr>
              <p:cNvPr id="4" name="TextBox 4"/>
              <p:cNvSpPr txBox="1"/>
              <p:nvPr/>
            </p:nvSpPr>
            <p:spPr>
              <a:xfrm>
                <a:off x="0" y="-47625"/>
                <a:ext cx="3444314" cy="6759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5" name="TextBox 5"/>
            <p:cNvSpPr txBox="1"/>
            <p:nvPr/>
          </p:nvSpPr>
          <p:spPr>
            <a:xfrm>
              <a:off x="2874985" y="892810"/>
              <a:ext cx="12386075" cy="1068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00"/>
                </a:lnSpc>
              </a:pPr>
              <a:r>
                <a:rPr lang="en-US" sz="6800" spc="-374" dirty="0" err="1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Positionnement</a:t>
              </a:r>
              <a:r>
                <a:rPr lang="en-US" sz="6800" spc="-374" dirty="0">
                  <a:solidFill>
                    <a:srgbClr val="0B0A0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et Questions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62603" y="3569455"/>
              <a:ext cx="17925397" cy="9766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0B0A0A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Quels</a:t>
              </a:r>
              <a:r>
                <a:rPr lang="en-US" sz="2799" u="none" strike="noStrike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sont les temps de réponse des cartes Jetson Nano, Jetson Orin Nano et Raspberry Pi 5 lors de l'exécution de YOLO  </a:t>
              </a:r>
              <a:r>
                <a:rPr lang="en-US" sz="2799" b="1" u="none" strike="noStrike">
                  <a:solidFill>
                    <a:srgbClr val="0B0A0A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?</a:t>
              </a:r>
              <a:r>
                <a:rPr lang="en-US" sz="2799" u="none" strike="noStrike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62603" y="4956253"/>
              <a:ext cx="17410839" cy="1471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 u="none" strike="noStrike" dirty="0" err="1">
                  <a:solidFill>
                    <a:srgbClr val="0B0A0A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Quels</a:t>
              </a:r>
              <a:r>
                <a:rPr lang="en-US" sz="2799" u="none" strike="noStrike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799" u="none" strike="noStrike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sont</a:t>
              </a:r>
              <a:r>
                <a:rPr lang="en-US" sz="2799" u="none" strike="noStrike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les temps </a:t>
              </a:r>
              <a:r>
                <a:rPr lang="en-US" sz="2799" u="none" strike="noStrike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d'inférence</a:t>
              </a:r>
              <a:r>
                <a:rPr lang="en-US" sz="2799" u="none" strike="noStrike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799" u="none" strike="noStrike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estimés</a:t>
              </a:r>
              <a:r>
                <a:rPr lang="en-US" sz="2799" u="none" strike="noStrike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de YOLOv11 et YOLOv12 , et </a:t>
              </a:r>
              <a:r>
                <a:rPr lang="en-US" sz="2799" u="none" strike="noStrike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ces</a:t>
              </a:r>
              <a:r>
                <a:rPr lang="en-US" sz="2799" u="none" strike="noStrike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799" u="none" strike="noStrike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dernières</a:t>
              </a:r>
              <a:r>
                <a:rPr lang="en-US" sz="2799" u="none" strike="noStrike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versions </a:t>
              </a:r>
              <a:r>
                <a:rPr lang="en-US" sz="2799" u="none" strike="noStrike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offrent-elles</a:t>
              </a:r>
              <a:r>
                <a:rPr lang="en-US" sz="2799" u="none" strike="noStrike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un </a:t>
              </a:r>
              <a:r>
                <a:rPr lang="en-US" sz="2799" u="none" strike="noStrike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avantage</a:t>
              </a:r>
              <a:r>
                <a:rPr lang="en-US" sz="2799" u="none" strike="noStrike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799" u="none" strike="noStrike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significatif</a:t>
              </a:r>
              <a:r>
                <a:rPr lang="en-US" sz="2799" u="none" strike="noStrike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799" u="none" strike="noStrike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en</a:t>
              </a:r>
              <a:r>
                <a:rPr lang="en-US" sz="2799" u="none" strike="noStrike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799" u="none" strike="noStrike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vitesse</a:t>
              </a:r>
              <a:r>
                <a:rPr lang="en-US" sz="2799" u="none" strike="noStrike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par rapport à YOLOv8 tout </a:t>
              </a:r>
              <a:r>
                <a:rPr lang="en-US" sz="2799" u="none" strike="noStrike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en</a:t>
              </a:r>
              <a:r>
                <a:rPr lang="en-US" sz="2799" u="none" strike="noStrike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799" u="none" strike="noStrike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maintenant</a:t>
              </a:r>
              <a:r>
                <a:rPr lang="en-US" sz="2799" u="none" strike="noStrike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799" u="none" strike="noStrike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une</a:t>
              </a:r>
              <a:r>
                <a:rPr lang="en-US" sz="2799" u="none" strike="noStrike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799" u="none" strike="noStrike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précision</a:t>
              </a:r>
              <a:r>
                <a:rPr lang="en-US" sz="2799" u="none" strike="noStrike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799" u="none" strike="noStrike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suffisante</a:t>
              </a:r>
              <a:r>
                <a:rPr lang="en-US" sz="2799" u="none" strike="noStrike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pour un </a:t>
              </a:r>
              <a:r>
                <a:rPr lang="en-US" sz="2799" u="none" strike="noStrike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déploiement</a:t>
              </a:r>
              <a:r>
                <a:rPr lang="en-US" sz="2799" u="none" strike="noStrike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  <a:r>
                <a:rPr lang="en-US" sz="2799" u="none" strike="noStrike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embarqué</a:t>
              </a:r>
              <a:r>
                <a:rPr lang="en-US" sz="2799" u="none" strike="noStrike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temps </a:t>
              </a:r>
              <a:r>
                <a:rPr lang="en-US" sz="2799" u="none" strike="noStrike" dirty="0" err="1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réel</a:t>
              </a:r>
              <a:r>
                <a:rPr lang="en-US" sz="2799" u="none" strike="noStrike" dirty="0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 </a:t>
              </a:r>
              <a:r>
                <a:rPr lang="en-US" sz="2799" b="1" u="none" strike="noStrike" dirty="0">
                  <a:solidFill>
                    <a:srgbClr val="0B0A0A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?</a:t>
              </a:r>
            </a:p>
          </p:txBody>
        </p:sp>
      </p:grpSp>
      <p:sp>
        <p:nvSpPr>
          <p:cNvPr id="8" name="Oval 10">
            <a:extLst>
              <a:ext uri="{FF2B5EF4-FFF2-40B4-BE49-F238E27FC236}">
                <a16:creationId xmlns:a16="http://schemas.microsoft.com/office/drawing/2014/main" id="{B0DD07D6-144F-01B6-B86A-431AC74ACED7}"/>
              </a:ext>
            </a:extLst>
          </p:cNvPr>
          <p:cNvSpPr/>
          <p:nvPr/>
        </p:nvSpPr>
        <p:spPr>
          <a:xfrm rot="164763">
            <a:off x="16415027" y="320498"/>
            <a:ext cx="1095753" cy="8028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/>
              <a:t>7</a:t>
            </a:r>
            <a:endParaRPr lang="fr-FR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/>
          <p:cNvSpPr txBox="1">
            <a:spLocks noGrp="1"/>
          </p:cNvSpPr>
          <p:nvPr>
            <p:ph idx="1"/>
          </p:nvPr>
        </p:nvSpPr>
        <p:spPr>
          <a:xfrm>
            <a:off x="1189503" y="3114526"/>
            <a:ext cx="15773400" cy="2326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sz="6600" b="1" i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fr-FR" sz="6600" b="1" i="1" dirty="0">
                <a:solidFill>
                  <a:srgbClr val="002060"/>
                </a:solidFill>
                <a:latin typeface="Vineta BT" panose="04020906050602070202" pitchFamily="82" charset="0"/>
                <a:cs typeface="Times New Roman" pitchFamily="18" charset="0"/>
              </a:rPr>
              <a:t>Merci pour votre attention</a:t>
            </a:r>
            <a:endParaRPr lang="ar-MA" sz="6600" b="1" i="1" dirty="0">
              <a:solidFill>
                <a:srgbClr val="002060"/>
              </a:solidFill>
              <a:latin typeface="Vineta BT" panose="04020906050602070202" pitchFamily="82" charset="0"/>
              <a:cs typeface="Times New Roman" pitchFamily="18" charset="0"/>
            </a:endParaRPr>
          </a:p>
        </p:txBody>
      </p:sp>
      <p:cxnSp>
        <p:nvCxnSpPr>
          <p:cNvPr id="3" name="AutoShape 11">
            <a:extLst>
              <a:ext uri="{FF2B5EF4-FFF2-40B4-BE49-F238E27FC236}">
                <a16:creationId xmlns:a16="http://schemas.microsoft.com/office/drawing/2014/main" id="{53311E05-77DC-6043-E62E-225060AFD75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97859" y="1201022"/>
            <a:ext cx="16733520" cy="0"/>
          </a:xfrm>
          <a:prstGeom prst="straightConnector1">
            <a:avLst/>
          </a:prstGeom>
          <a:ln w="28575">
            <a:headEnd/>
            <a:tailE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AutoShape 11">
            <a:extLst>
              <a:ext uri="{FF2B5EF4-FFF2-40B4-BE49-F238E27FC236}">
                <a16:creationId xmlns:a16="http://schemas.microsoft.com/office/drawing/2014/main" id="{C03A538A-CBB7-A512-5576-CBEDF9B824B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7240" y="9257775"/>
            <a:ext cx="16733520" cy="0"/>
          </a:xfrm>
          <a:prstGeom prst="straightConnector1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Box 2049">
            <a:extLst>
              <a:ext uri="{FF2B5EF4-FFF2-40B4-BE49-F238E27FC236}">
                <a16:creationId xmlns:a16="http://schemas.microsoft.com/office/drawing/2014/main" id="{D8C850F8-0BEC-5ABC-F3DA-6DB34EB399F0}"/>
              </a:ext>
            </a:extLst>
          </p:cNvPr>
          <p:cNvSpPr txBox="1"/>
          <p:nvPr/>
        </p:nvSpPr>
        <p:spPr>
          <a:xfrm>
            <a:off x="8394790" y="9516777"/>
            <a:ext cx="149842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100" b="1" dirty="0" smtClean="0"/>
              <a:t>2025-2026</a:t>
            </a:r>
            <a:endParaRPr lang="fr-FR" sz="2100" b="1" dirty="0"/>
          </a:p>
        </p:txBody>
      </p:sp>
      <p:sp>
        <p:nvSpPr>
          <p:cNvPr id="8" name="Oval 10">
            <a:extLst>
              <a:ext uri="{FF2B5EF4-FFF2-40B4-BE49-F238E27FC236}">
                <a16:creationId xmlns:a16="http://schemas.microsoft.com/office/drawing/2014/main" id="{B0DD07D6-144F-01B6-B86A-431AC74ACED7}"/>
              </a:ext>
            </a:extLst>
          </p:cNvPr>
          <p:cNvSpPr/>
          <p:nvPr/>
        </p:nvSpPr>
        <p:spPr>
          <a:xfrm rot="164763">
            <a:off x="16415027" y="320498"/>
            <a:ext cx="1095753" cy="8028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/>
              <a:t>8</a:t>
            </a:r>
            <a:endParaRPr lang="fr-FR" sz="3600" b="1" dirty="0"/>
          </a:p>
        </p:txBody>
      </p:sp>
      <p:sp>
        <p:nvSpPr>
          <p:cNvPr id="9" name="Rectangle : coins arrondis 18">
            <a:extLst>
              <a:ext uri="{FF2B5EF4-FFF2-40B4-BE49-F238E27FC236}">
                <a16:creationId xmlns:a16="http://schemas.microsoft.com/office/drawing/2014/main" id="{ADFE1DF8-59E0-4E43-8E4B-02EFDF3E14CA}"/>
              </a:ext>
            </a:extLst>
          </p:cNvPr>
          <p:cNvSpPr/>
          <p:nvPr/>
        </p:nvSpPr>
        <p:spPr>
          <a:xfrm>
            <a:off x="15415146" y="5835997"/>
            <a:ext cx="2872854" cy="197639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700" dirty="0"/>
          </a:p>
        </p:txBody>
      </p:sp>
      <p:sp>
        <p:nvSpPr>
          <p:cNvPr id="10" name="Rectangle : coins arrondis 19">
            <a:extLst>
              <a:ext uri="{FF2B5EF4-FFF2-40B4-BE49-F238E27FC236}">
                <a16:creationId xmlns:a16="http://schemas.microsoft.com/office/drawing/2014/main" id="{C5D4C8C9-F593-4D76-B666-8B098596EFC1}"/>
              </a:ext>
            </a:extLst>
          </p:cNvPr>
          <p:cNvSpPr/>
          <p:nvPr/>
        </p:nvSpPr>
        <p:spPr>
          <a:xfrm>
            <a:off x="15415146" y="4253365"/>
            <a:ext cx="2872854" cy="197639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700" dirty="0"/>
          </a:p>
        </p:txBody>
      </p:sp>
      <p:sp>
        <p:nvSpPr>
          <p:cNvPr id="11" name="Rectangle : coins arrondis 20">
            <a:extLst>
              <a:ext uri="{FF2B5EF4-FFF2-40B4-BE49-F238E27FC236}">
                <a16:creationId xmlns:a16="http://schemas.microsoft.com/office/drawing/2014/main" id="{ABDA252B-89DA-483A-B17A-79AD1591F147}"/>
              </a:ext>
            </a:extLst>
          </p:cNvPr>
          <p:cNvSpPr/>
          <p:nvPr/>
        </p:nvSpPr>
        <p:spPr>
          <a:xfrm>
            <a:off x="2" y="4543916"/>
            <a:ext cx="2872854" cy="1199171"/>
          </a:xfrm>
          <a:prstGeom prst="roundRect">
            <a:avLst>
              <a:gd name="adj" fmla="val 183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700" dirty="0"/>
          </a:p>
        </p:txBody>
      </p:sp>
      <p:sp>
        <p:nvSpPr>
          <p:cNvPr id="12" name="Rectangle : coins arrondis 21">
            <a:extLst>
              <a:ext uri="{FF2B5EF4-FFF2-40B4-BE49-F238E27FC236}">
                <a16:creationId xmlns:a16="http://schemas.microsoft.com/office/drawing/2014/main" id="{63AB8D23-912B-4FC1-B3AB-209CBDF1AE9B}"/>
              </a:ext>
            </a:extLst>
          </p:cNvPr>
          <p:cNvSpPr/>
          <p:nvPr/>
        </p:nvSpPr>
        <p:spPr>
          <a:xfrm>
            <a:off x="2" y="4253365"/>
            <a:ext cx="2872854" cy="197639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700" dirty="0"/>
          </a:p>
        </p:txBody>
      </p:sp>
      <p:sp>
        <p:nvSpPr>
          <p:cNvPr id="13" name="Rectangle : coins arrondis 22">
            <a:extLst>
              <a:ext uri="{FF2B5EF4-FFF2-40B4-BE49-F238E27FC236}">
                <a16:creationId xmlns:a16="http://schemas.microsoft.com/office/drawing/2014/main" id="{C4E8100B-2F04-4906-B61F-75C9F90F9601}"/>
              </a:ext>
            </a:extLst>
          </p:cNvPr>
          <p:cNvSpPr/>
          <p:nvPr/>
        </p:nvSpPr>
        <p:spPr>
          <a:xfrm>
            <a:off x="0" y="5835995"/>
            <a:ext cx="2872854" cy="197639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700" dirty="0"/>
          </a:p>
        </p:txBody>
      </p:sp>
      <p:sp>
        <p:nvSpPr>
          <p:cNvPr id="14" name="Rectangle : coins arrondis 9">
            <a:extLst>
              <a:ext uri="{FF2B5EF4-FFF2-40B4-BE49-F238E27FC236}">
                <a16:creationId xmlns:a16="http://schemas.microsoft.com/office/drawing/2014/main" id="{C6D143E1-8CF4-4FF8-8E45-197E20B3DD29}"/>
              </a:ext>
            </a:extLst>
          </p:cNvPr>
          <p:cNvSpPr/>
          <p:nvPr/>
        </p:nvSpPr>
        <p:spPr>
          <a:xfrm>
            <a:off x="15415146" y="4543915"/>
            <a:ext cx="2872854" cy="1199171"/>
          </a:xfrm>
          <a:prstGeom prst="roundRect">
            <a:avLst>
              <a:gd name="adj" fmla="val 183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700" dirty="0"/>
          </a:p>
        </p:txBody>
      </p:sp>
    </p:spTree>
    <p:extLst>
      <p:ext uri="{BB962C8B-B14F-4D97-AF65-F5344CB8AC3E}">
        <p14:creationId xmlns:p14="http://schemas.microsoft.com/office/powerpoint/2010/main" val="4264403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851</Words>
  <Application>Microsoft Office PowerPoint</Application>
  <PresentationFormat>Personnalisé</PresentationFormat>
  <Paragraphs>94</Paragraphs>
  <Slides>10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17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28" baseType="lpstr">
      <vt:lpstr>Regular Brush</vt:lpstr>
      <vt:lpstr>Lato</vt:lpstr>
      <vt:lpstr>Garinim Shehorim</vt:lpstr>
      <vt:lpstr>Arial</vt:lpstr>
      <vt:lpstr>Arial (Headings)</vt:lpstr>
      <vt:lpstr>TT Firs Neue Bold</vt:lpstr>
      <vt:lpstr>MV Boli</vt:lpstr>
      <vt:lpstr>Calibri</vt:lpstr>
      <vt:lpstr>Century Gothic</vt:lpstr>
      <vt:lpstr>TT Firs Neue</vt:lpstr>
      <vt:lpstr>Vineta BT</vt:lpstr>
      <vt:lpstr>Georgia</vt:lpstr>
      <vt:lpstr>Heading Now 71-78</vt:lpstr>
      <vt:lpstr>Times New Roman</vt:lpstr>
      <vt:lpstr>Cambria</vt:lpstr>
      <vt:lpstr>Aptos</vt:lpstr>
      <vt:lpstr>Segoe UI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FRDISI</dc:title>
  <cp:lastModifiedBy>med</cp:lastModifiedBy>
  <cp:revision>17</cp:revision>
  <dcterms:created xsi:type="dcterms:W3CDTF">2006-08-16T00:00:00Z</dcterms:created>
  <dcterms:modified xsi:type="dcterms:W3CDTF">2025-12-20T10:45:07Z</dcterms:modified>
  <dc:identifier>DAG71pqjB3A</dc:identifier>
</cp:coreProperties>
</file>